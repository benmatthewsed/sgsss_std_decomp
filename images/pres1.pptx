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87" r:id="rId5"/>
    <p:sldId id="261" r:id="rId6"/>
    <p:sldId id="262" r:id="rId7"/>
    <p:sldId id="263" r:id="rId8"/>
    <p:sldId id="279" r:id="rId9"/>
    <p:sldId id="288" r:id="rId10"/>
    <p:sldId id="290" r:id="rId11"/>
    <p:sldId id="264" r:id="rId12"/>
    <p:sldId id="289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3" r:id="rId21"/>
    <p:sldId id="274" r:id="rId22"/>
    <p:sldId id="275" r:id="rId23"/>
    <p:sldId id="276" r:id="rId24"/>
    <p:sldId id="292" r:id="rId25"/>
    <p:sldId id="291" r:id="rId26"/>
    <p:sldId id="280" r:id="rId27"/>
    <p:sldId id="277" r:id="rId28"/>
    <p:sldId id="278" r:id="rId29"/>
    <p:sldId id="293" r:id="rId30"/>
    <p:sldId id="271" r:id="rId31"/>
    <p:sldId id="300" r:id="rId32"/>
    <p:sldId id="281" r:id="rId33"/>
    <p:sldId id="282" r:id="rId34"/>
    <p:sldId id="283" r:id="rId35"/>
    <p:sldId id="284" r:id="rId36"/>
    <p:sldId id="286" r:id="rId37"/>
    <p:sldId id="295" r:id="rId38"/>
    <p:sldId id="299" r:id="rId39"/>
    <p:sldId id="296" r:id="rId40"/>
    <p:sldId id="298" r:id="rId41"/>
    <p:sldId id="301" r:id="rId42"/>
    <p:sldId id="302" r:id="rId43"/>
    <p:sldId id="303" r:id="rId44"/>
    <p:sldId id="305" r:id="rId45"/>
    <p:sldId id="306" r:id="rId46"/>
    <p:sldId id="307" r:id="rId47"/>
    <p:sldId id="308" r:id="rId48"/>
    <p:sldId id="314" r:id="rId49"/>
    <p:sldId id="315" r:id="rId50"/>
    <p:sldId id="309" r:id="rId51"/>
    <p:sldId id="310" r:id="rId52"/>
    <p:sldId id="311" r:id="rId53"/>
    <p:sldId id="312" r:id="rId54"/>
    <p:sldId id="313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3" autoAdjust="0"/>
    <p:restoredTop sz="96323" autoAdjust="0"/>
  </p:normalViewPr>
  <p:slideViewPr>
    <p:cSldViewPr snapToGrid="0">
      <p:cViewPr varScale="1">
        <p:scale>
          <a:sx n="113" d="100"/>
          <a:sy n="113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93D4-059B-41BF-83DB-4F153157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7933-D7D6-43B8-BF78-DEF44054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36244-0C2B-4E4A-8927-D993F2E2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74BE5-E0E3-4FFF-8780-A45D2B74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471B-3934-4525-A647-95A711D7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77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BE8E-5D8E-467D-ABA2-5103BAC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25ADB-1F8C-4546-A25E-F345B9A68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6B0EF-C6BA-4082-A29F-45B8AEB6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4569-CC87-44AB-9317-D36B8F098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3B94A-F308-4BDE-8B60-AD6B472D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58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8713-DDF9-4EF8-972B-AC251DDF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7CD37-C185-4581-970C-191681AB7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779A0-C3BF-4F6B-8988-86C73EEF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56F77-CAE1-456E-A9E7-22EF71C7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FBE2C-A1A1-4E49-87F5-E6840632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66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AAA3-68D2-4D88-872D-33FDE1EC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718-62BE-44F3-82C3-B530CE6DB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4E7AB-2A9A-4BCC-8E35-F8F23C211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EBEF8-7060-4EC7-9D9E-8FEE44B0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BDAA6-88D4-417C-9E81-3A5D6801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BFE7F-44A5-4F82-AA02-5D2C01AA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7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85C2-45F2-4C3F-BCB5-8204D864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0B0FD-0032-4B06-8C76-9DF384656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A2F96-321F-4AF8-8CB1-341714918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D98C2-9B11-4AE5-A244-19D3C99A0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804C0-C499-4916-BE61-103F13F5B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98EE5-9F28-49F1-AB02-D6BDA916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EFE21-BACE-4356-888A-29AA45E5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B0B4E-943D-47CE-9934-CA042CC1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40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7329-6A6A-40AC-AF0F-635AE6AA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88357-6338-46C2-BC69-0D30A40F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6A4AE-50B3-4AC0-A94B-3AD39B7B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7335-BF41-4E0C-B0ED-C05A8D7A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9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FB945-0603-48AB-AF23-EF9583FB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898E3-643E-4813-9E23-A7C18828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9D788-B682-44D0-B3DD-5432B3F0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87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9903-75EB-416B-B380-5F797E88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88FA-4574-4017-9C2D-B092DF41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5D4E3-E054-4EFB-9A28-7C3647EF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38727-40CA-4C95-B0C7-9F508C79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DFF9-9CF5-4D31-AC7E-1B18ED00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C59FA-2BDB-47A4-BCE0-3473023A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3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51D0-BB36-4A9A-A8F0-6270A7FC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1F471-9BDF-41CE-9FB4-8F5125561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7FF8-923B-4DEC-916A-38D67E519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52BA-82CA-4CD0-805E-3A16D5147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6D69-0144-4B09-A6D4-9A49334F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C5F56-402F-4B8A-B73F-835EBF74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83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3C3B-9157-4F8F-B436-4D208A2E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07718-1F3D-4088-8A7F-AFDCF6EA3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DAE7-09A4-45DD-9E37-C5CDBFDA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B3B9-25F0-4BFE-8BEE-E849FECA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6FA7-F7E5-4E61-A0D7-1E79C137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59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DE137-CDA7-46D2-BCF4-F1B380DE1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14151-CF74-4F98-A896-E71E0DD0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D7F8B-C9DD-4158-817D-600DE310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17FD-807F-4F8F-9356-E62F2883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3651-5C4B-4F0B-B7CE-5532A1E2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38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87E5D-DECD-4575-861B-AD7A7D91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E502C-A25D-422E-B005-67D32260B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64FC-09D7-4008-BA26-AE790707A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75C6-7696-4000-9208-9546B6E90450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4339B-F12E-4CDD-A7C1-5F172545A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BEC25-F620-485A-B34B-0EEDB8591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1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079EC8E1-FE25-40F3-9F82-8D9E36F51E44}"/>
              </a:ext>
            </a:extLst>
          </p:cNvPr>
          <p:cNvGrpSpPr/>
          <p:nvPr/>
        </p:nvGrpSpPr>
        <p:grpSpPr>
          <a:xfrm>
            <a:off x="2369701" y="2305771"/>
            <a:ext cx="1913467" cy="1913467"/>
            <a:chOff x="1683986" y="164675"/>
            <a:chExt cx="1913467" cy="191346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A4218-3F77-4155-9192-C258510D2BC6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05B6DF-17AC-4848-AD31-E9C06DBB0B03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0E2ADB4-FF57-4651-B688-BDEBACDD4730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7506A8-00C5-4551-ADEE-AECEBBEC01F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49192D-1DE6-4E18-A3DD-2EF8A360482C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5D1674-4461-4C45-A13A-D7EFCBCFC1AB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614CB8-3729-4C3D-A3E5-163AF3BA1B4C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C123A1D-5101-48ED-9467-0F6781F95EB0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6B5167-1307-4C0C-BBCF-897BE841988D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E8CA8-456B-4D5A-A226-7407BE4BF607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A1A771-D0A9-4465-8C2F-88E27A1AC01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F7CE18-4356-416D-BB71-4DC8DEAE50BE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74E870D-B7A0-4133-9827-3DA3C5B3BD89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8D23045-0B8B-4368-B8C8-363D91C6D05E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BB72807-1308-4FAA-8F4A-F4354DBCF32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D544800-206B-4B60-833B-C64205708454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A35AE2B-DBDB-4F54-855F-306E7FFD108B}"/>
              </a:ext>
            </a:extLst>
          </p:cNvPr>
          <p:cNvGrpSpPr/>
          <p:nvPr/>
        </p:nvGrpSpPr>
        <p:grpSpPr>
          <a:xfrm>
            <a:off x="7924734" y="2306202"/>
            <a:ext cx="1913467" cy="1913467"/>
            <a:chOff x="4273591" y="2277533"/>
            <a:chExt cx="1913467" cy="1913467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D6B4197-C797-445A-9F53-D2992F43FC9C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8E6A3AB-4AAB-493C-AC9F-6E0683C35094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1F96770-5E40-480E-9FFA-AD09574E7A17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4966BFE-E282-49D7-BB30-684D5BA0E917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C46B95B-1B53-4277-BC44-03F17787CFD7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668156E-2EF1-45BC-8520-01ECB865ECB0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ED3F102-ADAD-4091-ABCE-9763CC5A0057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86DF79B-9D97-45CC-97C5-AE2473621AA9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59F0D4D-7F7E-4A40-96A1-D0E3280E67AA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2C18431-EDB3-41BE-A42B-5E504E694DCE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3980D59-BC12-4EBB-8B9B-B152520B86DA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7AC3779-1003-454D-8746-374B1A4257E9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D223B40-BFC4-43F2-81D5-F0EE18BFA559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D7D14A-6DE3-4315-8B27-29A310555C35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5EC4176-F013-4EFF-B313-084D1957CAD9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57D2290-1B20-4499-A679-5969AB56CDF6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DD90D7-E1FE-48D2-BFC4-528AF49087E3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C3470D6-AF79-456A-9CB2-FBA9DEBF4E47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C8DF55-F81C-431B-B8EA-3F8D14B55DF6}"/>
              </a:ext>
            </a:extLst>
          </p:cNvPr>
          <p:cNvSpPr txBox="1"/>
          <p:nvPr/>
        </p:nvSpPr>
        <p:spPr>
          <a:xfrm>
            <a:off x="362079" y="116614"/>
            <a:ext cx="5248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populations, two rates</a:t>
            </a:r>
          </a:p>
        </p:txBody>
      </p:sp>
    </p:spTree>
    <p:extLst>
      <p:ext uri="{BB962C8B-B14F-4D97-AF65-F5344CB8AC3E}">
        <p14:creationId xmlns:p14="http://schemas.microsoft.com/office/powerpoint/2010/main" val="132044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E9788F4-BB29-48BC-9046-D37362E9009D}"/>
              </a:ext>
            </a:extLst>
          </p:cNvPr>
          <p:cNvGrpSpPr/>
          <p:nvPr/>
        </p:nvGrpSpPr>
        <p:grpSpPr>
          <a:xfrm>
            <a:off x="2369700" y="2305771"/>
            <a:ext cx="1913467" cy="1913467"/>
            <a:chOff x="1683986" y="164675"/>
            <a:chExt cx="1913467" cy="1913467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DB8548-E94A-4913-82A0-3034359CD7F3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017965C-6999-4D08-A9A1-7D4E3A6DB038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DB0C8EC-CF29-445D-988D-B43B690115B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D6DE867-02E4-484C-8776-0CE80B376EA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EACEE7E-19F7-4F50-ADBA-573210379D70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DE5807B-97F8-4940-8E95-5B43A8D8BCF7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0F16044-BBDA-4350-AA96-3F3DDE1CA93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25B6969-7D2F-4462-8466-B3F501A34CE9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EDC650D-98AF-4E83-B988-288BC688D69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09BBFF8-4E9A-420D-BCF5-B422A3B7E3ED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593E36E-FF7E-48FA-98C6-DBBAB2E2A8D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5E0100-EBF6-4EB7-A0E3-E4E7E9ECDB3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5E8167A-9284-4D0A-8C86-26FFDC4C69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44A946A-48EB-4707-BAB7-92EDCD67A41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1BFE539-A7E3-46FB-B0FC-6649C6A9061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175DAFF-9806-4D77-8205-76C4503AED6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BB2B62-7B14-44F6-8B2F-3AB494159ECF}"/>
              </a:ext>
            </a:extLst>
          </p:cNvPr>
          <p:cNvGrpSpPr/>
          <p:nvPr/>
        </p:nvGrpSpPr>
        <p:grpSpPr>
          <a:xfrm>
            <a:off x="7924733" y="2306202"/>
            <a:ext cx="1913467" cy="1913467"/>
            <a:chOff x="4273591" y="2277533"/>
            <a:chExt cx="1913467" cy="1913467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6D8A446-FE0E-4D3D-9994-E03402E28E54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36F2ABC-40FB-4320-ADAC-BBC0E9CE7A9B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8023EF8-2CF3-46EB-AD50-B4A3E1614602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F1BAE1C-622A-4E45-9C7F-03ACC7D52776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FB680B0-0B4B-4043-949B-6A6C5DEE2860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1E7EEA5-7F93-4A1F-9D31-47C1EB93D22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E733C33-6D24-46C3-A07C-6EEE365C16E4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0BF3D9-F009-44AD-9065-0D8DB71DB2F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10AC7D9-5C8E-4ACA-AC78-09A5FEE423D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E77521F-5055-49BE-8A13-CA504D99BADF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8E2D70-3193-4069-A80D-C143B850D559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0685B6A-CEC2-4AFF-B936-92BE98353C8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4F12F61-AC8D-427A-9577-CDBC3B6801BB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40BBA9A-42FC-4900-A3BE-B2FC14E81C3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BDCA865-D4CE-4053-BCAA-EB133B20A447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48F934D-885B-43A9-BDED-2700DE5DF444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/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0A1C1F6-B381-4679-8078-8D7BCD9F983E}"/>
              </a:ext>
            </a:extLst>
          </p:cNvPr>
          <p:cNvGrpSpPr/>
          <p:nvPr/>
        </p:nvGrpSpPr>
        <p:grpSpPr>
          <a:xfrm>
            <a:off x="5441373" y="5479441"/>
            <a:ext cx="1309254" cy="432769"/>
            <a:chOff x="2435363" y="5051154"/>
            <a:chExt cx="1309254" cy="43276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973E249-B002-46FC-940B-35537F6E5212}"/>
                </a:ext>
              </a:extLst>
            </p:cNvPr>
            <p:cNvSpPr txBox="1"/>
            <p:nvPr/>
          </p:nvSpPr>
          <p:spPr>
            <a:xfrm>
              <a:off x="3434791" y="520692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/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0ABFA6-F69F-44F7-AF41-A4FB54EDB867}"/>
                </a:ext>
              </a:extLst>
            </p:cNvPr>
            <p:cNvSpPr txBox="1"/>
            <p:nvPr/>
          </p:nvSpPr>
          <p:spPr>
            <a:xfrm>
              <a:off x="2483578" y="519267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B3B48D-92A9-4B43-936B-CE149DFB00DF}"/>
                </a:ext>
              </a:extLst>
            </p:cNvPr>
            <p:cNvSpPr/>
            <p:nvPr/>
          </p:nvSpPr>
          <p:spPr>
            <a:xfrm>
              <a:off x="2547954" y="507285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471ACBD-7682-4EEC-A7E1-7FA34362DB91}"/>
                </a:ext>
              </a:extLst>
            </p:cNvPr>
            <p:cNvSpPr/>
            <p:nvPr/>
          </p:nvSpPr>
          <p:spPr>
            <a:xfrm>
              <a:off x="2435363" y="527997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A94AB8-3167-4D35-B7D2-1816DC699360}"/>
                </a:ext>
              </a:extLst>
            </p:cNvPr>
            <p:cNvSpPr/>
            <p:nvPr/>
          </p:nvSpPr>
          <p:spPr>
            <a:xfrm>
              <a:off x="2675020" y="527997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F31D456-203E-4B94-9ED4-FF413B5DDDFE}"/>
                </a:ext>
              </a:extLst>
            </p:cNvPr>
            <p:cNvCxnSpPr>
              <a:cxnSpLocks/>
            </p:cNvCxnSpPr>
            <p:nvPr/>
          </p:nvCxnSpPr>
          <p:spPr>
            <a:xfrm>
              <a:off x="2435363" y="523582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32E8026-3193-4B35-9E1E-E9011396FA62}"/>
                </a:ext>
              </a:extLst>
            </p:cNvPr>
            <p:cNvSpPr/>
            <p:nvPr/>
          </p:nvSpPr>
          <p:spPr>
            <a:xfrm>
              <a:off x="3010916" y="5075379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92DF339-58E4-4538-B6C7-BEB4E400FB5F}"/>
                </a:ext>
              </a:extLst>
            </p:cNvPr>
            <p:cNvSpPr/>
            <p:nvPr/>
          </p:nvSpPr>
          <p:spPr>
            <a:xfrm>
              <a:off x="3009991" y="5279976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9210F7-C36B-48BD-9F25-A9958C0EBB7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704" y="5238343"/>
              <a:ext cx="15500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BF9C6A8-8B97-4220-85D0-26ECA6622FA9}"/>
                </a:ext>
              </a:extLst>
            </p:cNvPr>
            <p:cNvSpPr/>
            <p:nvPr/>
          </p:nvSpPr>
          <p:spPr>
            <a:xfrm>
              <a:off x="3499167" y="5087105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E7CE397-9363-486D-A3DA-CAC8C7B8583C}"/>
                </a:ext>
              </a:extLst>
            </p:cNvPr>
            <p:cNvSpPr/>
            <p:nvPr/>
          </p:nvSpPr>
          <p:spPr>
            <a:xfrm>
              <a:off x="3386576" y="529422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878E54-6A30-4109-AFB4-FA1A88F0244E}"/>
                </a:ext>
              </a:extLst>
            </p:cNvPr>
            <p:cNvSpPr/>
            <p:nvPr/>
          </p:nvSpPr>
          <p:spPr>
            <a:xfrm>
              <a:off x="3626233" y="529422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4F50D83-1F73-43AC-84A4-DFA309868F69}"/>
                </a:ext>
              </a:extLst>
            </p:cNvPr>
            <p:cNvCxnSpPr>
              <a:cxnSpLocks/>
            </p:cNvCxnSpPr>
            <p:nvPr/>
          </p:nvCxnSpPr>
          <p:spPr>
            <a:xfrm>
              <a:off x="3386576" y="525007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/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91687B7-9EC7-46C7-B489-95F113D9CC53}"/>
              </a:ext>
            </a:extLst>
          </p:cNvPr>
          <p:cNvGrpSpPr/>
          <p:nvPr/>
        </p:nvGrpSpPr>
        <p:grpSpPr>
          <a:xfrm>
            <a:off x="5052377" y="4729092"/>
            <a:ext cx="1399066" cy="695260"/>
            <a:chOff x="4989864" y="278529"/>
            <a:chExt cx="1399066" cy="69526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0DF6355-0475-4A38-9DCA-587763DB3C84}"/>
                </a:ext>
              </a:extLst>
            </p:cNvPr>
            <p:cNvCxnSpPr>
              <a:cxnSpLocks/>
            </p:cNvCxnSpPr>
            <p:nvPr/>
          </p:nvCxnSpPr>
          <p:spPr>
            <a:xfrm>
              <a:off x="5188085" y="633243"/>
              <a:ext cx="249967" cy="34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A6BE4AA-2CD9-4D1C-A75E-CA251BB04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4210" y="583476"/>
              <a:ext cx="71459" cy="3819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75BEE8-DCBE-436F-8AB2-A12427DF8741}"/>
                </a:ext>
              </a:extLst>
            </p:cNvPr>
            <p:cNvSpPr txBox="1"/>
            <p:nvPr/>
          </p:nvSpPr>
          <p:spPr>
            <a:xfrm>
              <a:off x="4989864" y="32634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A1D945-AE4A-4944-9072-A909A02190F1}"/>
                </a:ext>
              </a:extLst>
            </p:cNvPr>
            <p:cNvSpPr txBox="1"/>
            <p:nvPr/>
          </p:nvSpPr>
          <p:spPr>
            <a:xfrm>
              <a:off x="6079230" y="278529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0E0B026-37E1-4850-B0AE-331AC09415ED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587275-841C-47D9-94DC-A0A45586184C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635573-268D-49B3-9708-D5CEECDA8010}"/>
              </a:ext>
            </a:extLst>
          </p:cNvPr>
          <p:cNvSpPr txBox="1"/>
          <p:nvPr/>
        </p:nvSpPr>
        <p:spPr>
          <a:xfrm>
            <a:off x="362079" y="116614"/>
            <a:ext cx="7608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Rates can be split into component parts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00F3BF-5E8E-4F89-9AE6-29F932C52185}"/>
              </a:ext>
            </a:extLst>
          </p:cNvPr>
          <p:cNvSpPr txBox="1"/>
          <p:nvPr/>
        </p:nvSpPr>
        <p:spPr>
          <a:xfrm>
            <a:off x="948190" y="6140897"/>
            <a:ext cx="998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squares x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5192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05483"/>
            <a:ext cx="10310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B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800" dirty="0">
              <a:latin typeface="Goudy Old Style" panose="02020502050305020303" pitchFamily="18" charset="0"/>
            </a:endParaRPr>
          </a:p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	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B907C5-804F-4C35-8FFA-3B311F90AC56}"/>
              </a:ext>
            </a:extLst>
          </p:cNvPr>
          <p:cNvSpPr txBox="1"/>
          <p:nvPr/>
        </p:nvSpPr>
        <p:spPr>
          <a:xfrm>
            <a:off x="362079" y="116614"/>
            <a:ext cx="551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methods, two questions</a:t>
            </a:r>
          </a:p>
        </p:txBody>
      </p:sp>
    </p:spTree>
    <p:extLst>
      <p:ext uri="{BB962C8B-B14F-4D97-AF65-F5344CB8AC3E}">
        <p14:creationId xmlns:p14="http://schemas.microsoft.com/office/powerpoint/2010/main" val="397310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05483"/>
            <a:ext cx="10310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B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800" dirty="0">
              <a:latin typeface="Goudy Old Style" panose="02020502050305020303" pitchFamily="18" charset="0"/>
            </a:endParaRPr>
          </a:p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	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B907C5-804F-4C35-8FFA-3B311F90AC56}"/>
              </a:ext>
            </a:extLst>
          </p:cNvPr>
          <p:cNvSpPr txBox="1"/>
          <p:nvPr/>
        </p:nvSpPr>
        <p:spPr>
          <a:xfrm>
            <a:off x="362079" y="116614"/>
            <a:ext cx="551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methods, two questions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AB88DF-89A9-4CCA-BBE1-E4E6C88C07CE}"/>
              </a:ext>
            </a:extLst>
          </p:cNvPr>
          <p:cNvGrpSpPr/>
          <p:nvPr/>
        </p:nvGrpSpPr>
        <p:grpSpPr>
          <a:xfrm>
            <a:off x="8309019" y="91851"/>
            <a:ext cx="4048856" cy="2013008"/>
            <a:chOff x="8309019" y="91851"/>
            <a:chExt cx="4048856" cy="20130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4D16DAE-7A0B-41BE-B661-D4844A38A67D}"/>
                </a:ext>
              </a:extLst>
            </p:cNvPr>
            <p:cNvGrpSpPr/>
            <p:nvPr/>
          </p:nvGrpSpPr>
          <p:grpSpPr>
            <a:xfrm>
              <a:off x="8309019" y="91851"/>
              <a:ext cx="1680546" cy="1136712"/>
              <a:chOff x="7140558" y="558640"/>
              <a:chExt cx="1680546" cy="113671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9B199AC-4F74-4CD2-BBFC-15852A9AFD09}"/>
                  </a:ext>
                </a:extLst>
              </p:cNvPr>
              <p:cNvGrpSpPr/>
              <p:nvPr/>
            </p:nvGrpSpPr>
            <p:grpSpPr>
              <a:xfrm>
                <a:off x="7684392" y="558640"/>
                <a:ext cx="1136712" cy="1136712"/>
                <a:chOff x="1683986" y="164675"/>
                <a:chExt cx="1913467" cy="1913467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0B3C9769-845C-4971-9E56-369E1607B468}"/>
                    </a:ext>
                  </a:extLst>
                </p:cNvPr>
                <p:cNvSpPr/>
                <p:nvPr/>
              </p:nvSpPr>
              <p:spPr>
                <a:xfrm>
                  <a:off x="1683986" y="164675"/>
                  <a:ext cx="1913467" cy="19134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A8BFE72-8CB6-4CAB-9224-38119F127C18}"/>
                    </a:ext>
                  </a:extLst>
                </p:cNvPr>
                <p:cNvSpPr/>
                <p:nvPr/>
              </p:nvSpPr>
              <p:spPr>
                <a:xfrm>
                  <a:off x="2104020" y="856795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8C68D1C6-4B20-4CA8-922C-A6C77276304B}"/>
                    </a:ext>
                  </a:extLst>
                </p:cNvPr>
                <p:cNvSpPr/>
                <p:nvPr/>
              </p:nvSpPr>
              <p:spPr>
                <a:xfrm>
                  <a:off x="2299831" y="469962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C3F17476-39D1-4AF0-9A92-EFA68E2E6974}"/>
                    </a:ext>
                  </a:extLst>
                </p:cNvPr>
                <p:cNvSpPr/>
                <p:nvPr/>
              </p:nvSpPr>
              <p:spPr>
                <a:xfrm>
                  <a:off x="3255047" y="866633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7CE38823-9B24-49F4-8432-11B3ED583667}"/>
                    </a:ext>
                  </a:extLst>
                </p:cNvPr>
                <p:cNvSpPr/>
                <p:nvPr/>
              </p:nvSpPr>
              <p:spPr>
                <a:xfrm>
                  <a:off x="2641914" y="1096096"/>
                  <a:ext cx="191069" cy="191069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9D6EDAC6-7E5D-4F80-86E2-EB454927AA02}"/>
                    </a:ext>
                  </a:extLst>
                </p:cNvPr>
                <p:cNvSpPr/>
                <p:nvPr/>
              </p:nvSpPr>
              <p:spPr>
                <a:xfrm>
                  <a:off x="3273642" y="1197292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29CFAC1-287F-497F-A528-9ED8CAE1816A}"/>
                    </a:ext>
                  </a:extLst>
                </p:cNvPr>
                <p:cNvSpPr/>
                <p:nvPr/>
              </p:nvSpPr>
              <p:spPr>
                <a:xfrm>
                  <a:off x="2283566" y="1606391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5530A9B1-317E-443C-B2BD-BC9D33519125}"/>
                    </a:ext>
                  </a:extLst>
                </p:cNvPr>
                <p:cNvSpPr/>
                <p:nvPr/>
              </p:nvSpPr>
              <p:spPr>
                <a:xfrm>
                  <a:off x="1855025" y="13917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4365E94C-CF29-4E0C-9060-F27C318835AE}"/>
                    </a:ext>
                  </a:extLst>
                </p:cNvPr>
                <p:cNvSpPr/>
                <p:nvPr/>
              </p:nvSpPr>
              <p:spPr>
                <a:xfrm>
                  <a:off x="2974860" y="460064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5C3853D7-02C8-4C32-A55E-BA4D1BE61326}"/>
                    </a:ext>
                  </a:extLst>
                </p:cNvPr>
                <p:cNvSpPr/>
                <p:nvPr/>
              </p:nvSpPr>
              <p:spPr>
                <a:xfrm>
                  <a:off x="2508468" y="14167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5D9DF8EE-CDD0-4819-A083-B7886FAA93BB}"/>
                    </a:ext>
                  </a:extLst>
                </p:cNvPr>
                <p:cNvSpPr/>
                <p:nvPr/>
              </p:nvSpPr>
              <p:spPr>
                <a:xfrm>
                  <a:off x="3021778" y="1582866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BBFC369-F21C-47AA-890F-B102A79D89BD}"/>
                    </a:ext>
                  </a:extLst>
                </p:cNvPr>
                <p:cNvSpPr/>
                <p:nvPr/>
              </p:nvSpPr>
              <p:spPr>
                <a:xfrm>
                  <a:off x="2864077" y="1233732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C5EE83BE-1A3A-4928-881B-F82E5476E410}"/>
                    </a:ext>
                  </a:extLst>
                </p:cNvPr>
                <p:cNvSpPr/>
                <p:nvPr/>
              </p:nvSpPr>
              <p:spPr>
                <a:xfrm>
                  <a:off x="2126472" y="11834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BB35838B-8E5D-461C-86AE-3EA2B4A85046}"/>
                    </a:ext>
                  </a:extLst>
                </p:cNvPr>
                <p:cNvSpPr/>
                <p:nvPr/>
              </p:nvSpPr>
              <p:spPr>
                <a:xfrm>
                  <a:off x="2378030" y="800604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6ADC7EA7-F619-45CE-99D7-9385CD666D7D}"/>
                    </a:ext>
                  </a:extLst>
                </p:cNvPr>
                <p:cNvSpPr/>
                <p:nvPr/>
              </p:nvSpPr>
              <p:spPr>
                <a:xfrm>
                  <a:off x="2926243" y="736769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A19C943B-567E-4FFA-8269-AE25DDC10DAF}"/>
                    </a:ext>
                  </a:extLst>
                </p:cNvPr>
                <p:cNvSpPr/>
                <p:nvPr/>
              </p:nvSpPr>
              <p:spPr>
                <a:xfrm>
                  <a:off x="2663146" y="393762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E7F4F2B-DC8E-4A6D-B825-03EDA7C888E6}"/>
                  </a:ext>
                </a:extLst>
              </p:cNvPr>
              <p:cNvSpPr txBox="1"/>
              <p:nvPr/>
            </p:nvSpPr>
            <p:spPr>
              <a:xfrm>
                <a:off x="7140558" y="841712"/>
                <a:ext cx="554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Goudy Old Style" panose="02020502050305020303" pitchFamily="18" charset="0"/>
                  </a:rPr>
                  <a:t>P1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20F5747-DDAF-48AE-A41B-C2BC7E820C63}"/>
                </a:ext>
              </a:extLst>
            </p:cNvPr>
            <p:cNvGrpSpPr/>
            <p:nvPr/>
          </p:nvGrpSpPr>
          <p:grpSpPr>
            <a:xfrm>
              <a:off x="10224119" y="91851"/>
              <a:ext cx="1677921" cy="1136712"/>
              <a:chOff x="8311644" y="5648422"/>
              <a:chExt cx="1677921" cy="1136712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B75B1FDD-C1C1-4030-BB00-F56010E0ACB8}"/>
                  </a:ext>
                </a:extLst>
              </p:cNvPr>
              <p:cNvGrpSpPr/>
              <p:nvPr/>
            </p:nvGrpSpPr>
            <p:grpSpPr>
              <a:xfrm>
                <a:off x="8852853" y="5648422"/>
                <a:ext cx="1136712" cy="1136712"/>
                <a:chOff x="4273591" y="2277533"/>
                <a:chExt cx="1913467" cy="1913467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A5291F3B-A2F3-46E6-974A-918AED808E9D}"/>
                    </a:ext>
                  </a:extLst>
                </p:cNvPr>
                <p:cNvSpPr/>
                <p:nvPr/>
              </p:nvSpPr>
              <p:spPr>
                <a:xfrm>
                  <a:off x="4273591" y="2277533"/>
                  <a:ext cx="1913467" cy="19134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66E03324-2868-4896-A77F-CBEADF09D617}"/>
                    </a:ext>
                  </a:extLst>
                </p:cNvPr>
                <p:cNvSpPr/>
                <p:nvPr/>
              </p:nvSpPr>
              <p:spPr>
                <a:xfrm>
                  <a:off x="5605955" y="3695724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64802FF-5DB4-4BC8-A5C9-40E570333355}"/>
                    </a:ext>
                  </a:extLst>
                </p:cNvPr>
                <p:cNvSpPr/>
                <p:nvPr/>
              </p:nvSpPr>
              <p:spPr>
                <a:xfrm>
                  <a:off x="4716077" y="3296354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BC92EC18-670B-447E-93B9-8296487F083E}"/>
                    </a:ext>
                  </a:extLst>
                </p:cNvPr>
                <p:cNvSpPr/>
                <p:nvPr/>
              </p:nvSpPr>
              <p:spPr>
                <a:xfrm>
                  <a:off x="4972535" y="2912255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C2DFDB43-A93F-4635-9194-F26528D8FEF2}"/>
                    </a:ext>
                  </a:extLst>
                </p:cNvPr>
                <p:cNvSpPr/>
                <p:nvPr/>
              </p:nvSpPr>
              <p:spPr>
                <a:xfrm>
                  <a:off x="5557046" y="2569281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D88C0F2-B332-40E9-8872-69D77811A28D}"/>
                    </a:ext>
                  </a:extLst>
                </p:cNvPr>
                <p:cNvSpPr/>
                <p:nvPr/>
              </p:nvSpPr>
              <p:spPr>
                <a:xfrm>
                  <a:off x="4873079" y="3725542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0092D6D5-4F2F-4325-B740-58C9F005AC34}"/>
                    </a:ext>
                  </a:extLst>
                </p:cNvPr>
                <p:cNvSpPr/>
                <p:nvPr/>
              </p:nvSpPr>
              <p:spPr>
                <a:xfrm>
                  <a:off x="4693625" y="2969653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FA3134E0-0BF0-4F39-900F-B3305BA5ABFD}"/>
                    </a:ext>
                  </a:extLst>
                </p:cNvPr>
                <p:cNvSpPr/>
                <p:nvPr/>
              </p:nvSpPr>
              <p:spPr>
                <a:xfrm>
                  <a:off x="4889436" y="2582820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2473872-9F4C-47DF-BD68-0EC5CBDCF91C}"/>
                    </a:ext>
                  </a:extLst>
                </p:cNvPr>
                <p:cNvSpPr/>
                <p:nvPr/>
              </p:nvSpPr>
              <p:spPr>
                <a:xfrm>
                  <a:off x="5844652" y="2979491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600D5289-9484-40DD-A036-7283755F680D}"/>
                    </a:ext>
                  </a:extLst>
                </p:cNvPr>
                <p:cNvSpPr/>
                <p:nvPr/>
              </p:nvSpPr>
              <p:spPr>
                <a:xfrm>
                  <a:off x="5231519" y="3208954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0C4A1775-D1BA-4573-854F-E64E6146DF8B}"/>
                    </a:ext>
                  </a:extLst>
                </p:cNvPr>
                <p:cNvSpPr/>
                <p:nvPr/>
              </p:nvSpPr>
              <p:spPr>
                <a:xfrm>
                  <a:off x="5863247" y="3310150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39104401-1A9B-4F22-BF20-6B3DBA84DDB1}"/>
                    </a:ext>
                  </a:extLst>
                </p:cNvPr>
                <p:cNvSpPr/>
                <p:nvPr/>
              </p:nvSpPr>
              <p:spPr>
                <a:xfrm>
                  <a:off x="4444630" y="3504655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B5E1AF29-5FD2-4501-A255-983F3DEE6083}"/>
                    </a:ext>
                  </a:extLst>
                </p:cNvPr>
                <p:cNvSpPr/>
                <p:nvPr/>
              </p:nvSpPr>
              <p:spPr>
                <a:xfrm>
                  <a:off x="5098073" y="3529655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E56A9B20-3A9F-42F6-9178-C6A446BC3CED}"/>
                    </a:ext>
                  </a:extLst>
                </p:cNvPr>
                <p:cNvSpPr/>
                <p:nvPr/>
              </p:nvSpPr>
              <p:spPr>
                <a:xfrm>
                  <a:off x="5453682" y="3346590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ABC3BD23-B3C2-4DB9-B136-F7741F5E47FF}"/>
                    </a:ext>
                  </a:extLst>
                </p:cNvPr>
                <p:cNvSpPr/>
                <p:nvPr/>
              </p:nvSpPr>
              <p:spPr>
                <a:xfrm>
                  <a:off x="5515848" y="284962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793AA970-A80E-4986-B6CF-5FCC4334CDD6}"/>
                    </a:ext>
                  </a:extLst>
                </p:cNvPr>
                <p:cNvSpPr/>
                <p:nvPr/>
              </p:nvSpPr>
              <p:spPr>
                <a:xfrm>
                  <a:off x="5252751" y="2506620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9D41DC2-9DEB-43B6-B6A8-AFB00DA7F0B3}"/>
                  </a:ext>
                </a:extLst>
              </p:cNvPr>
              <p:cNvSpPr txBox="1"/>
              <p:nvPr/>
            </p:nvSpPr>
            <p:spPr>
              <a:xfrm>
                <a:off x="8311644" y="5931063"/>
                <a:ext cx="554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Goudy Old Style" panose="02020502050305020303" pitchFamily="18" charset="0"/>
                  </a:rPr>
                  <a:t>P2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F52814-EA2C-4061-93A9-EFEE16F3F81E}"/>
                </a:ext>
              </a:extLst>
            </p:cNvPr>
            <p:cNvSpPr txBox="1"/>
            <p:nvPr/>
          </p:nvSpPr>
          <p:spPr>
            <a:xfrm>
              <a:off x="8863979" y="1366195"/>
              <a:ext cx="349389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Rate = rate of green squares = </a:t>
              </a:r>
              <a:r>
                <a:rPr lang="en-GB" sz="1400" dirty="0" err="1"/>
                <a:t>AxB</a:t>
              </a:r>
              <a:endParaRPr lang="en-GB" sz="1400" dirty="0"/>
            </a:p>
            <a:p>
              <a:r>
                <a:rPr lang="en-GB" sz="1400" dirty="0"/>
                <a:t>A = proportion of squares</a:t>
              </a:r>
            </a:p>
            <a:p>
              <a:r>
                <a:rPr lang="en-GB" sz="1400" dirty="0"/>
                <a:t>B = proportion of squares that are green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59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40316"/>
            <a:ext cx="1031094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3F1DC0-0D90-4B3F-992A-57CB563A1F48}"/>
              </a:ext>
            </a:extLst>
          </p:cNvPr>
          <p:cNvSpPr txBox="1"/>
          <p:nvPr/>
        </p:nvSpPr>
        <p:spPr>
          <a:xfrm>
            <a:off x="705394" y="43164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Goudy Old Style" panose="02020502050305020303" pitchFamily="18" charset="0"/>
              </a:rPr>
              <a:t>A in P2 was the same as A in P1? </a:t>
            </a:r>
            <a:endParaRPr lang="en-GB" sz="2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4758F8-A527-48A3-B81E-78C604ADAE6C}"/>
              </a:ext>
            </a:extLst>
          </p:cNvPr>
          <p:cNvSpPr txBox="1"/>
          <p:nvPr/>
        </p:nvSpPr>
        <p:spPr>
          <a:xfrm>
            <a:off x="6339839" y="43164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Goudy Old Style" panose="02020502050305020303" pitchFamily="18" charset="0"/>
              </a:rPr>
              <a:t>A in P2 was at the average of what it is in P1 and P2?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CD8DB9-7F2E-45F2-8084-A49880E8329D}"/>
              </a:ext>
            </a:extLst>
          </p:cNvPr>
          <p:cNvCxnSpPr/>
          <p:nvPr/>
        </p:nvCxnSpPr>
        <p:spPr>
          <a:xfrm flipH="1">
            <a:off x="3448594" y="2926083"/>
            <a:ext cx="1881052" cy="1390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04966C-2A4E-4C98-826B-6DD2496354D5}"/>
              </a:ext>
            </a:extLst>
          </p:cNvPr>
          <p:cNvCxnSpPr>
            <a:cxnSpLocks/>
          </p:cNvCxnSpPr>
          <p:nvPr/>
        </p:nvCxnSpPr>
        <p:spPr>
          <a:xfrm>
            <a:off x="5660572" y="2926083"/>
            <a:ext cx="3291839" cy="1323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C8A5A89-F7CE-4DC7-960A-CBD1C3A6A5CE}"/>
              </a:ext>
            </a:extLst>
          </p:cNvPr>
          <p:cNvSpPr txBox="1"/>
          <p:nvPr/>
        </p:nvSpPr>
        <p:spPr>
          <a:xfrm>
            <a:off x="362079" y="116614"/>
            <a:ext cx="3703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Need to be specific</a:t>
            </a:r>
          </a:p>
        </p:txBody>
      </p:sp>
    </p:spTree>
    <p:extLst>
      <p:ext uri="{BB962C8B-B14F-4D97-AF65-F5344CB8AC3E}">
        <p14:creationId xmlns:p14="http://schemas.microsoft.com/office/powerpoint/2010/main" val="205066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D9A0F2-3433-48CA-9E0D-72971991CEC0}"/>
                  </a:ext>
                </a:extLst>
              </p:cNvPr>
              <p:cNvSpPr txBox="1"/>
              <p:nvPr/>
            </p:nvSpPr>
            <p:spPr>
              <a:xfrm>
                <a:off x="505098" y="908200"/>
                <a:ext cx="1031094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000" dirty="0">
                  <a:latin typeface="Goudy Old Style" panose="02020502050305020303" pitchFamily="18" charset="0"/>
                </a:endParaRPr>
              </a:p>
              <a:p>
                <a:r>
                  <a:rPr lang="en-GB" sz="2000" dirty="0">
                    <a:latin typeface="Goudy Old Style" panose="02020502050305020303" pitchFamily="18" charset="0"/>
                  </a:rPr>
                  <a:t>Rates are different partly because of A, and partly because of B. </a:t>
                </a:r>
              </a:p>
              <a:p>
                <a:r>
                  <a:rPr lang="en-GB" sz="2000" dirty="0">
                    <a:latin typeface="Goudy Old Style" panose="02020502050305020303" pitchFamily="18" charset="0"/>
                  </a:rPr>
                  <a:t>We want to be able to figure out how much is because of each</a:t>
                </a: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 ?∆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+   ?∆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2000" dirty="0">
                  <a:latin typeface="Goudy Old Style" panose="02020502050305020303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D9A0F2-3433-48CA-9E0D-72971991C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8" y="908200"/>
                <a:ext cx="10310949" cy="3170099"/>
              </a:xfrm>
              <a:prstGeom prst="rect">
                <a:avLst/>
              </a:prstGeom>
              <a:blipFill>
                <a:blip r:embed="rId2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57DE68C-4D65-4578-8884-A205C341142D}"/>
              </a:ext>
            </a:extLst>
          </p:cNvPr>
          <p:cNvSpPr txBox="1"/>
          <p:nvPr/>
        </p:nvSpPr>
        <p:spPr>
          <a:xfrm>
            <a:off x="5995850" y="2928546"/>
            <a:ext cx="9319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Goudy Old Style" panose="02020502050305020303" pitchFamily="18" charset="0"/>
              </a:rPr>
              <a:t>A-effect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4A550-5F3D-4196-87FE-DF7B832F2670}"/>
              </a:ext>
            </a:extLst>
          </p:cNvPr>
          <p:cNvSpPr txBox="1"/>
          <p:nvPr/>
        </p:nvSpPr>
        <p:spPr>
          <a:xfrm>
            <a:off x="362079" y="116614"/>
            <a:ext cx="3056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A85FC-361D-47C9-B69C-CFCC3A64A418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1582C-3879-461A-A8FA-18EE628C215C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9D4C94-7F4F-429F-BDE2-6332B1AD42A2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FB9A01-801A-494B-AB13-C64F7282CDEF}"/>
              </a:ext>
            </a:extLst>
          </p:cNvPr>
          <p:cNvSpPr txBox="1"/>
          <p:nvPr/>
        </p:nvSpPr>
        <p:spPr>
          <a:xfrm>
            <a:off x="6217922" y="4434789"/>
            <a:ext cx="1968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Goudy Old Style" panose="02020502050305020303" pitchFamily="18" charset="0"/>
              </a:rPr>
              <a:t>B-effect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466C60-B052-4D34-90D1-7162389FC207}"/>
              </a:ext>
            </a:extLst>
          </p:cNvPr>
          <p:cNvCxnSpPr/>
          <p:nvPr/>
        </p:nvCxnSpPr>
        <p:spPr>
          <a:xfrm flipH="1">
            <a:off x="5556069" y="3297878"/>
            <a:ext cx="439781" cy="41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0B830-3727-4BB5-953C-1A1E9307F894}"/>
              </a:ext>
            </a:extLst>
          </p:cNvPr>
          <p:cNvCxnSpPr/>
          <p:nvPr/>
        </p:nvCxnSpPr>
        <p:spPr>
          <a:xfrm flipH="1" flipV="1">
            <a:off x="6461843" y="4014651"/>
            <a:ext cx="356968" cy="420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74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002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geometrically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D091A-BCB6-4CB2-A481-A9FE159D3A26}"/>
              </a:ext>
            </a:extLst>
          </p:cNvPr>
          <p:cNvSpPr/>
          <p:nvPr/>
        </p:nvSpPr>
        <p:spPr>
          <a:xfrm>
            <a:off x="5998012" y="3265714"/>
            <a:ext cx="2181527" cy="1306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493D1-0B2C-45F8-9FB1-63570354D758}"/>
              </a:ext>
            </a:extLst>
          </p:cNvPr>
          <p:cNvSpPr/>
          <p:nvPr/>
        </p:nvSpPr>
        <p:spPr>
          <a:xfrm>
            <a:off x="6324552" y="5106634"/>
            <a:ext cx="1162627" cy="518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2131D-FB67-43F3-8307-79F89C1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512" y="2343529"/>
            <a:ext cx="333299" cy="3081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88673E-F509-49BD-88AE-D5633359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302" y="5410903"/>
            <a:ext cx="363126" cy="33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8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912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one way to get ∆R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2C6E32-D940-45BE-ACC4-CC05AAD72944}"/>
              </a:ext>
            </a:extLst>
          </p:cNvPr>
          <p:cNvSpPr/>
          <p:nvPr/>
        </p:nvSpPr>
        <p:spPr>
          <a:xfrm>
            <a:off x="6096000" y="4876800"/>
            <a:ext cx="1942011" cy="1708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86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912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one way to get ∆R</a:t>
            </a:r>
          </a:p>
        </p:txBody>
      </p:sp>
    </p:spTree>
    <p:extLst>
      <p:ext uri="{BB962C8B-B14F-4D97-AF65-F5344CB8AC3E}">
        <p14:creationId xmlns:p14="http://schemas.microsoft.com/office/powerpoint/2010/main" val="37361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D091A-BCB6-4CB2-A481-A9FE159D3A26}"/>
              </a:ext>
            </a:extLst>
          </p:cNvPr>
          <p:cNvSpPr/>
          <p:nvPr/>
        </p:nvSpPr>
        <p:spPr>
          <a:xfrm>
            <a:off x="5998012" y="3265714"/>
            <a:ext cx="2181527" cy="1306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493D1-0B2C-45F8-9FB1-63570354D758}"/>
              </a:ext>
            </a:extLst>
          </p:cNvPr>
          <p:cNvSpPr/>
          <p:nvPr/>
        </p:nvSpPr>
        <p:spPr>
          <a:xfrm>
            <a:off x="6324552" y="5106634"/>
            <a:ext cx="1162627" cy="518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2131D-FB67-43F3-8307-79F89C1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512" y="2343529"/>
            <a:ext cx="333299" cy="3081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88673E-F509-49BD-88AE-D5633359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302" y="5410903"/>
            <a:ext cx="363126" cy="3357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6F993E-F7BA-4D05-A212-6A0F8E4B8C13}"/>
              </a:ext>
            </a:extLst>
          </p:cNvPr>
          <p:cNvSpPr/>
          <p:nvPr/>
        </p:nvSpPr>
        <p:spPr>
          <a:xfrm>
            <a:off x="5867449" y="4772297"/>
            <a:ext cx="2181527" cy="1750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154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8DD-CBF4-4CC1-8C2D-38012CC0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63" y="1999559"/>
            <a:ext cx="2076740" cy="4772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941B23-9921-418F-8D44-A90CB05C1EBA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29D39-31FA-41A1-BFEF-7052D88C151C}"/>
              </a:ext>
            </a:extLst>
          </p:cNvPr>
          <p:cNvSpPr/>
          <p:nvPr/>
        </p:nvSpPr>
        <p:spPr>
          <a:xfrm>
            <a:off x="5998012" y="5094514"/>
            <a:ext cx="2129133" cy="16468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78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941B23-9921-418F-8D44-A90CB05C1EBA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2B8CD-2BE1-4E70-A090-013C6A54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63" y="1999559"/>
            <a:ext cx="207674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4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9FF022-8D76-4DA4-BBA3-98908663C405}"/>
              </a:ext>
            </a:extLst>
          </p:cNvPr>
          <p:cNvSpPr txBox="1"/>
          <p:nvPr/>
        </p:nvSpPr>
        <p:spPr>
          <a:xfrm>
            <a:off x="8194766" y="2949305"/>
            <a:ext cx="34835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Two ways to get from Rp1 to Rp2</a:t>
            </a:r>
          </a:p>
          <a:p>
            <a:endParaRPr lang="en-GB" dirty="0"/>
          </a:p>
          <a:p>
            <a:r>
              <a:rPr lang="en-GB" dirty="0"/>
              <a:t>But the “effect of moving A1 -&gt; A2”</a:t>
            </a:r>
          </a:p>
          <a:p>
            <a:r>
              <a:rPr lang="en-GB" dirty="0"/>
              <a:t>is very different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10777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two ways to get ∆R, two sets of answers</a:t>
            </a:r>
          </a:p>
        </p:txBody>
      </p:sp>
    </p:spTree>
    <p:extLst>
      <p:ext uri="{BB962C8B-B14F-4D97-AF65-F5344CB8AC3E}">
        <p14:creationId xmlns:p14="http://schemas.microsoft.com/office/powerpoint/2010/main" val="60814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B9BC3-68F5-4E2D-A944-6068F32E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49" y="2108152"/>
            <a:ext cx="5896798" cy="4477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A3F3B8-05ED-49EB-97AB-ED8ED0046BE1}"/>
              </a:ext>
            </a:extLst>
          </p:cNvPr>
          <p:cNvSpPr txBox="1"/>
          <p:nvPr/>
        </p:nvSpPr>
        <p:spPr>
          <a:xfrm>
            <a:off x="8789307" y="3429000"/>
            <a:ext cx="307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Substitute in A2 = A1 + (A2-A1)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96786-29C3-424D-8661-0B8D590EF535}"/>
              </a:ext>
            </a:extLst>
          </p:cNvPr>
          <p:cNvSpPr txBox="1"/>
          <p:nvPr/>
        </p:nvSpPr>
        <p:spPr>
          <a:xfrm>
            <a:off x="362079" y="116614"/>
            <a:ext cx="6302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160859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B9BC3-68F5-4E2D-A944-6068F32E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49" y="2108152"/>
            <a:ext cx="5896798" cy="447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4115A-13A2-4592-8D42-8D90B8D9B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452" y="2079572"/>
            <a:ext cx="6087325" cy="4477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442584-80AC-4798-8248-FE165C710237}"/>
              </a:ext>
            </a:extLst>
          </p:cNvPr>
          <p:cNvSpPr txBox="1"/>
          <p:nvPr/>
        </p:nvSpPr>
        <p:spPr>
          <a:xfrm>
            <a:off x="7718120" y="4149634"/>
            <a:ext cx="205843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Interaction term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D0632-4CE7-409E-8800-96A5989EACEB}"/>
              </a:ext>
            </a:extLst>
          </p:cNvPr>
          <p:cNvSpPr txBox="1"/>
          <p:nvPr/>
        </p:nvSpPr>
        <p:spPr>
          <a:xfrm>
            <a:off x="362079" y="116614"/>
            <a:ext cx="6302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3170312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F442584-80AC-4798-8248-FE165C710237}"/>
              </a:ext>
            </a:extLst>
          </p:cNvPr>
          <p:cNvSpPr txBox="1"/>
          <p:nvPr/>
        </p:nvSpPr>
        <p:spPr>
          <a:xfrm>
            <a:off x="7500406" y="1911532"/>
            <a:ext cx="205843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Interaction term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C8BC40-9D78-4E73-92FB-442422B387C9}"/>
              </a:ext>
            </a:extLst>
          </p:cNvPr>
          <p:cNvCxnSpPr>
            <a:cxnSpLocks/>
          </p:cNvCxnSpPr>
          <p:nvPr/>
        </p:nvCxnSpPr>
        <p:spPr>
          <a:xfrm flipH="1">
            <a:off x="6627223" y="2760617"/>
            <a:ext cx="1062446" cy="478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A28D23-A914-425F-BD8D-40817089CF2E}"/>
              </a:ext>
            </a:extLst>
          </p:cNvPr>
          <p:cNvSpPr txBox="1"/>
          <p:nvPr/>
        </p:nvSpPr>
        <p:spPr>
          <a:xfrm>
            <a:off x="362079" y="116614"/>
            <a:ext cx="9161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 (geometrically)</a:t>
            </a:r>
          </a:p>
        </p:txBody>
      </p:sp>
    </p:spTree>
    <p:extLst>
      <p:ext uri="{BB962C8B-B14F-4D97-AF65-F5344CB8AC3E}">
        <p14:creationId xmlns:p14="http://schemas.microsoft.com/office/powerpoint/2010/main" val="15312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B2890-10D0-4C6E-BE26-BD5186F06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03" y="1302722"/>
            <a:ext cx="4096322" cy="5068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085A5-400D-43E4-9236-63A8F5296E45}"/>
              </a:ext>
            </a:extLst>
          </p:cNvPr>
          <p:cNvSpPr txBox="1"/>
          <p:nvPr/>
        </p:nvSpPr>
        <p:spPr>
          <a:xfrm>
            <a:off x="362079" y="116614"/>
            <a:ext cx="7956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splitting the interaction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09029-864C-4152-BA6A-67F6B81EE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382" y="1944584"/>
            <a:ext cx="3450239" cy="44025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1A69B-8D93-48D4-8AFF-41BCCC10CF10}"/>
              </a:ext>
            </a:extLst>
          </p:cNvPr>
          <p:cNvSpPr/>
          <p:nvPr/>
        </p:nvSpPr>
        <p:spPr>
          <a:xfrm>
            <a:off x="3561806" y="1302722"/>
            <a:ext cx="2621280" cy="1283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23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5EBC0-9D23-4E67-B7E4-058A444E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14" y="2403012"/>
            <a:ext cx="3943900" cy="402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43D995-FB6D-40BB-A57A-5FCA8D61E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773" y="2969623"/>
            <a:ext cx="3692117" cy="1932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E7F21-65BB-4C4F-8204-875D37139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286" y="5025946"/>
            <a:ext cx="1889761" cy="710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897CA6-494F-4191-982E-CFED9CF4C747}"/>
              </a:ext>
            </a:extLst>
          </p:cNvPr>
          <p:cNvSpPr txBox="1"/>
          <p:nvPr/>
        </p:nvSpPr>
        <p:spPr>
          <a:xfrm>
            <a:off x="8795657" y="2455408"/>
            <a:ext cx="314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(just to show the simplification)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05040-67C0-4372-AAAF-48E19F202393}"/>
              </a:ext>
            </a:extLst>
          </p:cNvPr>
          <p:cNvSpPr txBox="1"/>
          <p:nvPr/>
        </p:nvSpPr>
        <p:spPr>
          <a:xfrm>
            <a:off x="362079" y="116614"/>
            <a:ext cx="7956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splitting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3856388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369EBA5-60A4-4293-8A4A-082A62AE212E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17BC36-870B-43D2-876E-05AF36D3B92A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9D83B10-B36B-4055-8768-0615A65FF26C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95CAB7C-5A6F-4E1C-BD22-2E267B922AF1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80F0B3-DC31-40E5-975C-653E6EAFF4EC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F49C7F-B623-4660-90A5-49B0795A87D1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131C2EA-DDA2-4814-A6D8-10F81DC5FD3C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34E5AF3-D057-4CDA-89E3-E7B31360A36F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7634B8-D242-4FC5-A2C1-1EC8AA345E4D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5EC4D6-FFFC-4698-BC16-7D04B9222967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36D3F7F-AAD7-44C5-A412-66D008053DFC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4152128-DC97-4616-BBAC-F1C90453F49D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94234F3-4167-423D-9332-BEB24AA9A1BE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715C17B-29D0-4C8C-9B00-86EA22EA20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0488B5A-C813-4114-9A32-69582F09829F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63666BF-4C23-4006-8DBD-EC0AD4B06030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331467-F7A0-4819-8AFD-1C5768661540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6EF1ABF-47E1-4DE2-AB30-AC5B7344A53F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F52BAA5-1DDA-4C98-84E4-8796E16E06B0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D8661CC-A921-4F91-8CC0-DA58AEF90FE3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B15678-8170-44F0-A3E7-D9C99947BB0D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6D78203-B229-4ED0-B2F4-94D1F0FB20CA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0B2A7EF-62EC-4FDB-9194-FAD100488D0E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33597C9-C278-4EBF-B5E6-2CD9BCA5AD86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A832CA-76FC-4089-A7C9-16F145F5510A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F15AA3-91D7-4980-819B-40852F0DD75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F459FD8-DA16-4D99-B2DB-AF5724EBEC33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7FF708F-1134-4924-A2FC-092B3A69FA22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433C613-2454-427E-BACA-524EA0947054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824DB35-EAC7-4DE9-B4BD-D0512E4A29DA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96BCF2F-9261-468D-A10F-129785ABC2F3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5A96D82-2A89-4FAF-B84D-B64ECBBE51C4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8558FFA-EE66-4449-AA88-9749A9DD82D1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EF8F338-22EB-4516-9879-710C9BBA9D17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0D20A9E-C125-45CC-B137-58041DA4B24A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7BBD5B-4B47-44AA-8BBF-12CE580E13AC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85D8B-C6CE-4CE1-8C67-7F27418E85A6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BD3BD1-CD83-4760-A93B-7F7F9C451D7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</p:spTree>
    <p:extLst>
      <p:ext uri="{BB962C8B-B14F-4D97-AF65-F5344CB8AC3E}">
        <p14:creationId xmlns:p14="http://schemas.microsoft.com/office/powerpoint/2010/main" val="3384319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03109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b="1" dirty="0">
                <a:latin typeface="Goudy Old Style" panose="02020502050305020303" pitchFamily="18" charset="0"/>
              </a:rPr>
              <a:t>					- A in P2 was the same as A in P1? &lt;&lt;&lt;</a:t>
            </a:r>
            <a:endParaRPr lang="en-GB" sz="2000" b="1" dirty="0"/>
          </a:p>
          <a:p>
            <a:r>
              <a:rPr lang="en-GB" sz="2000" dirty="0">
                <a:latin typeface="Goudy Old Style" panose="02020502050305020303" pitchFamily="18" charset="0"/>
              </a:rPr>
              <a:t>					- A in P2 was at the average of what it is in P1 and P2?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/>
              <p:nvPr/>
            </p:nvSpPr>
            <p:spPr>
              <a:xfrm>
                <a:off x="7800271" y="5882911"/>
                <a:ext cx="212178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=0.26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71" y="5882911"/>
                <a:ext cx="2121788" cy="489686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D6B417-5A84-46E5-97C3-9B8308029E23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D6B417-5A84-46E5-97C3-9B8308029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4FEA51-B624-41D5-BE1B-850B279AB763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4FEA51-B624-41D5-BE1B-850B279A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ECCB290B-5355-4DEF-B023-E636CB51812C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FE7D811-0766-4DE3-9E5A-97AF79F42741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6A27FF8-1DE7-45D4-9F64-3EF1893D6BD0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36C3D77-47F3-4D05-A44A-E844E7928C2F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6B39C45-F397-413E-9A48-5CF03C18DEDA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AC56D88-51D1-49A8-8BCC-D0990800F33E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8764AE0-4DE2-4A0A-B7B1-00518F0DBA08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3CAD974-934B-4004-971F-D6ABF4280C73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E33052A-D605-4E49-9383-C8DD69900066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2C2CF77-59E0-465B-9D6E-E32028EA50A9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A0484DA-E37F-4854-96FC-19C72578EBBF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8081657-B949-4CFF-860E-4E95B7F45D33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F20C5A0-2964-4808-BA86-9027AD8ACC89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F7F63B0-1DF8-4F33-8BD3-C53DE464549F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B4ACF25-0EBB-48C9-9E74-E6F91C50FD88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BF8B6C6-B895-444B-B258-7E8DBBD92C92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0737BC1-0D34-4B26-B67D-706EEB2C9035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377DF74-EF35-4682-B93F-E1158EFA68EE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B749717-05EE-4F86-8F60-BFD5F12BD72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CF69873-06AA-428D-B637-9A83FE8F4242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393F81B-6D6A-47A8-A90E-3FA90295AE87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B4FFDB6-4023-4082-8ACB-3950DC475FC8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EB80627-0945-4CFD-A1BD-C437FA422113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A6CC8D9-EBE0-4B3D-9527-035B27B09571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F9CC682-7717-436B-A355-6AD2F26AEFE6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0882F0D-F3BB-4BC8-965F-0EA9D4272EAA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CAFC498-E5D0-46F5-B84C-3AD1EAC3B80C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487F862-92D5-46D7-BFCB-89956C102369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E9FC272-DB91-44D0-81DA-043CC3607566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76D43E1-942A-423D-87B5-07788EAFEF33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F88F1C-737D-4469-BBB3-DB8A2F29C433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1A2624C-BF2B-449A-851B-8E114ABC594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D0FBB64-FCAB-4FA0-AE54-7FDE07145CA8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686AA10-4B5F-43DE-8550-8098909461DE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6CB47A6-11D6-41E1-8EE3-06B403EA5210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6CB47A6-11D6-41E1-8EE3-06B403EA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5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6C2D740-89BF-4ED1-809F-2C7230CEAAEA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6C2D740-89BF-4ED1-809F-2C7230CEA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6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4286B0CE-1F99-4412-8B20-CD58F5D9F6C1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BF654C1-CDD8-4C90-8E26-2DE98A33EFDF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DF98E3D-7C1F-4B3E-B8E5-8FFD6C33379A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BD7BFD7-DD4D-40F5-942F-434703EBD7A4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D69F5E-64E7-4A34-8077-ABEA6F2D6232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3071747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10896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dirty="0">
                <a:latin typeface="Goudy Old Style" panose="02020502050305020303" pitchFamily="18" charset="0"/>
              </a:rPr>
              <a:t>					- A in P2 was the same as A in P1? </a:t>
            </a:r>
            <a:endParaRPr lang="en-GB" sz="2000" dirty="0"/>
          </a:p>
          <a:p>
            <a:r>
              <a:rPr lang="en-GB" sz="2000" b="1" dirty="0">
                <a:latin typeface="Goudy Old Style" panose="02020502050305020303" pitchFamily="18" charset="0"/>
              </a:rPr>
              <a:t>					- A in P2 was at the average of what it is in P1 and P2? &lt;&lt;&lt;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/>
              <p:nvPr/>
            </p:nvSpPr>
            <p:spPr>
              <a:xfrm>
                <a:off x="7800270" y="5882911"/>
                <a:ext cx="2589055" cy="61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70" y="5882911"/>
                <a:ext cx="2589055" cy="610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E68FA5-46BF-4604-977A-CB0708CF94F3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E68FA5-46BF-4604-977A-CB0708CF9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934CEF4-E4B9-4B14-85B7-24D7CA560897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934CEF4-E4B9-4B14-85B7-24D7CA56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803C988B-66C6-497F-9087-0D37950DEBF8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5A2A5BC-6F4D-4E8B-A35D-C8C26411CB7C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1B518B4-542E-4AEF-8DE3-7B587A408026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150912B-4FB7-4C3D-80BF-9767D0FC9898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704D8BA-845F-404B-9E91-9E9DF7E4941F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DED9263-CD24-4B35-92FA-B577AB5FB647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C3EB2E0-AE33-49F5-B305-9FFA23DE3870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328B9B4-73BE-4885-B143-7AA42D1361AC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851C9A4-5C63-45D7-87EE-0E7523D6C4EC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47F8C4B-D568-4823-A4D2-1ACEE81B88D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85FD985-50EF-45E1-8853-9491AB20B269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B63493D-7ABF-4E08-9E7C-CBC403E744C7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318A0BB-ADF7-4D64-96CE-2F073A750458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06B4EAC-4D26-4E29-8C58-52E5BAD43E6D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6A3DE20-3ABF-433E-9B32-DDDCA357608D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51EF3A7-11AF-495D-95BA-1A91092AD772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39ABA2F-0DBD-493D-AE4B-F4C1A14DF32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F9FD2B3-98E5-4A60-871B-58BF724EA2F9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F2E22F1-A139-48E2-A862-13E7A9E3EC7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B74FC27-E3C4-4315-AD71-8529342786CF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76ED9E8-14A7-43D3-A633-1DFA9169008A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9202196-74C6-4BC2-AEE6-F451EDE08417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0F85895-77B1-44DA-ABD0-CBFC003D93CA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7E72E7F-0CE7-48E9-8EA0-B13FA9EB303F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5F8DD0A-569E-47C8-BC93-E26EEA792907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3950180-3A97-421F-AE89-7F6FCD0DCD99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59F5AF4-3490-43B0-9223-EEE51E2100D4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B4437D0-DB4A-43DC-A2E9-F700D2A6503E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F35CB9-D08D-4EB3-8E88-CF0070E43D10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355A46F-11F2-4296-8CFE-939F9EAFC2AA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2CC7A34-2D8B-4545-8DFC-2709DA0473C4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59AF16BD-8799-456F-BCEC-87C8F87C3C3E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02F6412-E5C5-47AD-973E-27A18314C603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E7416E9-0521-4A26-927F-C9E40C423AE0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817ACFD-054B-4E0D-A48F-153B68D5D227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817ACFD-054B-4E0D-A48F-153B68D5D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5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45CC6EC-A4E7-4534-94FA-FD6C014B6FCE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45CC6EC-A4E7-4534-94FA-FD6C014B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6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B823526C-FD75-41AC-882D-6818027424AF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BA75E0F-0D99-4CED-8C9A-CB019C9580D4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F39D5A7-B059-4ED3-BA10-3C2370D2C7B7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2484D5D-E2B0-4CB0-AFFD-CA3E08E41A4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D636A8-AAE7-4239-B87D-FE863960C018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410987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05497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dirty="0">
                <a:latin typeface="Goudy Old Style" panose="02020502050305020303" pitchFamily="18" charset="0"/>
              </a:rPr>
              <a:t>					 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A448867-226E-497E-B5B8-76E17E3466A6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A448867-226E-497E-B5B8-76E17E34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95E312-5C18-4D90-96B6-05B6AC9D418D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95E312-5C18-4D90-96B6-05B6AC9D4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1ADC83DF-BB2F-480B-8C4B-130CADACBDD8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3DD4B93-ABD2-4EE5-8184-76596B737A9C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95FF869-0A23-4214-9226-6B21B0466EC1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27AD6A1-8DEB-4EE4-A11C-3A6CAE83B43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23AAA9E-AAED-49DF-8965-E478E80D21BC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4DE8BA6-8E2C-4050-A8DE-4123DF9A16F1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2CEFA13-9AA0-4145-9C13-14E35AF9FCD1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48737E2-857E-4609-A0D4-4DE037DABEA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9A0B21F-CB3F-4C06-A1DB-DD449714F7B1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422F367-952E-418A-AA4C-BF0450F26CF1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44B3617-FDCB-40D9-83DC-437AEEAA3BF6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3C4B6BA-1FAB-4497-A64F-DB82D452E197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C61882E-C9B7-445E-88D3-BED07F58D872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8C7CD7E-27CB-4A9A-A7A8-BD62C0552438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D16D6DC-9E78-4B5D-91CC-2F08458FC297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22306AD-6C76-401E-BA48-051CC6081A04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7B2FE45-5BCA-402F-B80C-3F539A468273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A137661-0190-411F-BC33-6683064E71AB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B84B037-44E0-4DC5-A33F-0548E314D151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7EE9E41-96CA-4E10-9AA2-FCBD300CFD48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5DE87A1-BAFF-4E18-8DFE-36AD82C7619C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02CA5B6-F0AC-4F3B-8B91-2AE618DAEF99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9AE8CF2-3FC1-462C-B796-D9D4A5ACE6D9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EB5FCC-26DD-45F2-8149-FDE256409C5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D55718A-EFC5-412F-B2B9-7998DE1A325C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BF5E086-CAB7-4962-83DE-2828A963A7B1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2507298-4E38-4ABA-A394-9A98157D006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0DE1CBF-6423-4F42-90CA-62B68720FCAA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FFE70C5-29B2-401C-ABA7-A90D2FA2C05E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705DEA0-43B8-421D-81ED-75941B5FD05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319B917-AFDA-42FC-86C3-7B848BEBE11C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75DC4179-5E85-4F9C-A068-A891FBB5C5C4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CE38F69-384E-40B9-95CC-85C30DE24F85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8CAFC9A-16D7-4F97-AD99-A94A5177202F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0EA7A26-AE99-4757-B0D5-F698F40DC6F2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0EA7A26-AE99-4757-B0D5-F698F40DC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647A7B9-4AD3-40C1-8A8C-5841EEAEDDA2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647A7B9-4AD3-40C1-8A8C-5841EEAED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72391E2C-C4B8-4E16-8E43-9168BA3BD635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DE7BFB-71EC-4581-A0D7-5F7E09F52259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24B1547-F99C-4781-9F40-BB01758554A2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21BD00B-BE5D-4FDC-8618-128674E77793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84311A-A379-4A2E-875E-7E3A61A47B9A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1483260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/>
          <p:nvPr/>
        </p:nvCxnSpPr>
        <p:spPr>
          <a:xfrm flipH="1">
            <a:off x="7889966" y="1384663"/>
            <a:ext cx="962887" cy="85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3D23891-6350-4B4C-85A0-F6EC6B054F5E}"/>
              </a:ext>
            </a:extLst>
          </p:cNvPr>
          <p:cNvCxnSpPr/>
          <p:nvPr/>
        </p:nvCxnSpPr>
        <p:spPr>
          <a:xfrm>
            <a:off x="9910708" y="1384663"/>
            <a:ext cx="1039246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314287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EE3FA9-050B-4E09-A2E7-481E8A6B97AD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336F2B-29D2-4ABE-AF7C-FA6901A28F8A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071996-2090-424B-B93A-0427ACCE2008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405DF97-8FEC-4831-B88D-68F5055F252A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5BA141C-8735-404D-B609-0E0A26C3586B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54BA595-8D83-4C66-B878-4D2442BF60BB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485754C-C58D-4C54-97D4-B1507E69BF57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7099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348D7DB-295C-4F06-B0E4-090003DA16E7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BA56C26-3240-4580-A061-F523AFB69E5F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1CD0A7-B605-48CF-A6CF-CE0E549E4721}"/>
              </a:ext>
            </a:extLst>
          </p:cNvPr>
          <p:cNvGrpSpPr/>
          <p:nvPr/>
        </p:nvGrpSpPr>
        <p:grpSpPr>
          <a:xfrm>
            <a:off x="6887818" y="2063947"/>
            <a:ext cx="4992990" cy="2758059"/>
            <a:chOff x="6887818" y="2063947"/>
            <a:chExt cx="4992990" cy="275805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D72B035-70AE-4A97-9797-A81BBCBA431C}"/>
                </a:ext>
              </a:extLst>
            </p:cNvPr>
            <p:cNvSpPr/>
            <p:nvPr/>
          </p:nvSpPr>
          <p:spPr>
            <a:xfrm>
              <a:off x="6887818" y="3794394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1FB48C-FC3D-40D9-B034-7A92902665C2}"/>
                </a:ext>
              </a:extLst>
            </p:cNvPr>
            <p:cNvSpPr/>
            <p:nvPr/>
          </p:nvSpPr>
          <p:spPr>
            <a:xfrm>
              <a:off x="10131348" y="2368359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F997A9D-2914-4D07-A62A-D81C93494A65}"/>
                </a:ext>
              </a:extLst>
            </p:cNvPr>
            <p:cNvSpPr txBox="1"/>
            <p:nvPr/>
          </p:nvSpPr>
          <p:spPr>
            <a:xfrm>
              <a:off x="10964019" y="2063947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C9B7E42-233A-48C5-A8E8-CF0B533815FE}"/>
                </a:ext>
              </a:extLst>
            </p:cNvPr>
            <p:cNvSpPr txBox="1"/>
            <p:nvPr/>
          </p:nvSpPr>
          <p:spPr>
            <a:xfrm>
              <a:off x="7732331" y="3489565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CA96C95-193D-4C78-88F3-ED1E1F8B0AB5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19D00EF-C204-4D35-BD63-6CBE2C33D7A8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2E78BC8-C853-49E4-8568-1B8C4043F9B5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CE2C5A7-70F7-4C81-9CD6-80F0CCE053F0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C5578FC-7DC6-45CE-9DA5-1F482C11184F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666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39DB93D-858F-4389-BE73-B31AEE27CBC1}"/>
                  </a:ext>
                </a:extLst>
              </p:cNvPr>
              <p:cNvSpPr txBox="1"/>
              <p:nvPr/>
            </p:nvSpPr>
            <p:spPr>
              <a:xfrm>
                <a:off x="9989564" y="2602989"/>
                <a:ext cx="19207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0.0667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0.2667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39DB93D-858F-4389-BE73-B31AEE27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4" y="2602989"/>
                <a:ext cx="1920778" cy="203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14D42F-963A-4EE3-80AE-61E474DA1FD8}"/>
              </a:ext>
            </a:extLst>
          </p:cNvPr>
          <p:cNvGrpSpPr/>
          <p:nvPr/>
        </p:nvGrpSpPr>
        <p:grpSpPr>
          <a:xfrm>
            <a:off x="8309018" y="91850"/>
            <a:ext cx="1680546" cy="1136712"/>
            <a:chOff x="7140558" y="558640"/>
            <a:chExt cx="1680546" cy="1136712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971E90C-CE3F-4E8C-887C-5146AC6CE7A1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4764A6C-C62D-4D3A-BD93-29120E7CFCCB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82A7D23B-8DAC-4302-A67A-48243AC83F6D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74AF94B-2084-405C-B9D4-31561781F446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DBE1AB8-1DEE-431F-944F-769EB3FE5919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A57FA2F6-C7AC-4D08-95E4-24DCC97F36D0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502667C-6F78-4BB8-8875-E49E19724681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D05544F-291D-4070-BE4E-4DFE854C01CE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9B18ABB-3A1C-4448-895E-A01578C81C7E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9B9BF3B1-7570-4DB8-AEC5-5E32A4C9D0C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639930E5-7771-47B3-A097-615EC1DB4298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ADC2770D-3311-4C89-9739-CC916D5BF268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651FCB38-A4DF-41DA-9808-CC73F19A1AB4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303B4B95-4A72-4F91-BDF0-ACA512CDB7D9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324C03A7-05F1-42B9-99DD-003671D66953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5B1AFFF-FF76-47D0-BEB4-8E855F07593A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00D056BE-55E9-4BA4-80A7-488548E768F5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BB3CFCA-7291-4A6C-A084-4453A469985B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A51B7E1-EF2D-4F64-B0B9-1E75831AA836}"/>
              </a:ext>
            </a:extLst>
          </p:cNvPr>
          <p:cNvGrpSpPr/>
          <p:nvPr/>
        </p:nvGrpSpPr>
        <p:grpSpPr>
          <a:xfrm>
            <a:off x="8311643" y="5648421"/>
            <a:ext cx="1677921" cy="1136712"/>
            <a:chOff x="8311644" y="5648422"/>
            <a:chExt cx="1677921" cy="1136712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ADF084D-D40B-4E7A-828A-5A645FBF5CE6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14D4F9F-A1F7-42AD-A329-C575E2CAC768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BCC020BB-27BE-4461-9697-D7FD4284120B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72A9E8B-1452-4E89-99AF-3DEC89754950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D0F98FC-6FE6-4165-B6BA-65D75934FF9E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8ED0FE55-91A7-4F0B-98F3-7B015E41D1DE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D8D714C-82F7-4F45-AE99-CEA9AD28343C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B8866960-228C-4EEB-B4FB-FE59AA8C6B62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6D4CDCA-14E9-4891-924A-829D5B0083C3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EF36A414-BC22-459C-834D-460EBFE7B817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BE38A31-7C71-4B97-AB8D-8A3AB1E19630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6EA6316-C149-4817-8DB5-71F5A1C41B6D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07FEFCFA-2D5D-47AE-9627-821819F89013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2A997C2-55D7-4FBC-B7AD-E4BA753C2371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9AC2064-C032-4E88-8626-F46575C8A967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6386945-8FF6-4240-B218-5B79D488B053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348D3801-069D-4DAA-BFEB-65D864E848D6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56EFA2E-00FB-4C37-BF35-FC2B4960CCCB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44" y="1503250"/>
            <a:ext cx="5201376" cy="4534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5" y="2608117"/>
                <a:ext cx="19207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0.1333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5" y="2608117"/>
                <a:ext cx="1920778" cy="2031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3D23891-6350-4B4C-85A0-F6EC6B054F5E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3D0168B-4457-4E7F-8DCD-7A07CF166FCB}"/>
              </a:ext>
            </a:extLst>
          </p:cNvPr>
          <p:cNvGrpSpPr/>
          <p:nvPr/>
        </p:nvGrpSpPr>
        <p:grpSpPr>
          <a:xfrm>
            <a:off x="6887818" y="2063947"/>
            <a:ext cx="4992990" cy="2758059"/>
            <a:chOff x="6887818" y="2063947"/>
            <a:chExt cx="4992990" cy="275805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7452223-8E1F-4A6E-86EF-F7D7DF8CFFA3}"/>
                </a:ext>
              </a:extLst>
            </p:cNvPr>
            <p:cNvSpPr/>
            <p:nvPr/>
          </p:nvSpPr>
          <p:spPr>
            <a:xfrm>
              <a:off x="6887818" y="3794394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6D5B97A-5D61-4C6E-9EB2-6115E721F075}"/>
                </a:ext>
              </a:extLst>
            </p:cNvPr>
            <p:cNvSpPr/>
            <p:nvPr/>
          </p:nvSpPr>
          <p:spPr>
            <a:xfrm>
              <a:off x="10131348" y="2368359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C0E26D0-C07F-4CE2-B49A-60B7065F735D}"/>
                </a:ext>
              </a:extLst>
            </p:cNvPr>
            <p:cNvSpPr txBox="1"/>
            <p:nvPr/>
          </p:nvSpPr>
          <p:spPr>
            <a:xfrm>
              <a:off x="10964019" y="2063947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2BB289-0091-4854-9420-E6107B03FD7B}"/>
                </a:ext>
              </a:extLst>
            </p:cNvPr>
            <p:cNvSpPr txBox="1"/>
            <p:nvPr/>
          </p:nvSpPr>
          <p:spPr>
            <a:xfrm>
              <a:off x="7732331" y="3489565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1DF0A07-028F-4CC1-840C-117F66DC701E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7B861A0-1D56-4D9A-BFB4-7F9E30800FF8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CC1EF16-C364-49EC-8463-C7B60272BF72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1A4E6A1-66EB-461E-8194-98D852221F6E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FE995CA-9779-4609-8DBE-BADF3B8FBAAD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960ACDD-5E5F-4502-AFB8-FF44BFA0D7A5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960ACDD-5E5F-4502-AFB8-FF44BFA0D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F9BCE7D-A84C-4329-9F75-D721368E490F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F9BCE7D-A84C-4329-9F75-D721368E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TextBox 150">
            <a:extLst>
              <a:ext uri="{FF2B5EF4-FFF2-40B4-BE49-F238E27FC236}">
                <a16:creationId xmlns:a16="http://schemas.microsoft.com/office/drawing/2014/main" id="{29198E74-82C0-47B2-8174-B59DCBCAD896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3A7957D-516A-44AE-9F34-0D72FECA60F7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367A8F8-1804-4A6C-9B84-544275E52198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367A8F8-1804-4A6C-9B84-544275E5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346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BEACC33A-B3E3-4723-8BA5-BC9318AD7D9F}"/>
              </a:ext>
            </a:extLst>
          </p:cNvPr>
          <p:cNvGrpSpPr/>
          <p:nvPr/>
        </p:nvGrpSpPr>
        <p:grpSpPr>
          <a:xfrm>
            <a:off x="8309020" y="91849"/>
            <a:ext cx="1680546" cy="1136712"/>
            <a:chOff x="7140558" y="558640"/>
            <a:chExt cx="1680546" cy="113671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C9CB3DE-61EB-457C-A8FE-2CE56219D075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F04C783-DD47-4988-9A38-412A5EBD67A0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E032AF1-92AC-4573-82EE-408B7C4A7BE9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5818CB9-D000-49FC-9E0F-AFC5E91554CC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2D14FB7-4DF1-421B-B09B-F6E48C5A982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9B366BA-920C-461A-A06A-76F0CDD1E4E6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1D5F563-874C-40DC-BAC8-8161AB3D58F7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720F7A2-29E4-4547-9A20-49DA53B84A4D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59FAACF-B834-4FF8-9963-5453AFD51BA8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703A928-748D-4B67-BB8A-B4D866ECF50C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6C71913-E7F3-4E12-BDF4-EDEA79843065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1E20C00-AAB4-41C4-845F-C547A27EB809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8D84906-1A59-4541-99E0-84A7C9A26F5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AD42CAB-B028-48D0-9AD3-0E894AD93B82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B4DE4C4-ADAE-47B5-A53B-4FE6774FFB98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5A221F1-8D13-40C3-9CA0-E2050E63C2F2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2CC0E04-5C9E-4A4E-B0F5-644F635ABEF5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D863B60-288D-42C4-AA5C-8E72A53B4B6A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90105A3-6A2F-4EDE-A89A-09322E0EB2F8}"/>
              </a:ext>
            </a:extLst>
          </p:cNvPr>
          <p:cNvGrpSpPr/>
          <p:nvPr/>
        </p:nvGrpSpPr>
        <p:grpSpPr>
          <a:xfrm>
            <a:off x="8311645" y="5648420"/>
            <a:ext cx="1677921" cy="1136712"/>
            <a:chOff x="8311644" y="5648422"/>
            <a:chExt cx="1677921" cy="113671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369B862-D9D9-4DE9-92FB-8086DDB3E7E5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2DB08FF-C118-45A2-A7DA-C7064422F131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FD47314-A1B1-40C3-881C-9FCC4D947A2D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3B21CC8-8813-4F75-94B1-E29E347D5F9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DA00FA0-E363-4A14-8048-9301B56E560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23553B4-3DA2-4125-ABD2-E4C13A3ADBB8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9A530E3-1B92-41FD-B1FD-79C92EC7AF12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152071A-6E05-4C14-B428-B415C88AB24A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F98929D9-E133-4249-AAE8-D331A89B69BD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3BC67AA-CEC4-44F6-B0D1-68023A7575E6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5CF31A0-7587-4114-872C-98ED0C4C0C96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96E0B3D-B6FE-4F38-8A4A-C153B1C65771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8A9BC69-BD3A-4844-BFE3-42A865295356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539BB5F-2F19-4581-8865-6D7FB8CB9751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94E2826-E2D7-4BE7-B5C0-AD178CFA1E6A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1F874558-BDAD-47C3-B24D-FED890444666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C5BE61C-2C41-4872-819C-3022A3B2D0C3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575043A-92CF-49CD-B56B-591462B639C5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155282" y="2257773"/>
                <a:ext cx="2601736" cy="2514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282" y="2257773"/>
                <a:ext cx="2601736" cy="2514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0" y="5133394"/>
            <a:ext cx="1" cy="37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8BF8643-38DD-46C1-B805-A53254FA0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35" y="1134329"/>
            <a:ext cx="5400854" cy="550521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886080A-2B3F-4026-9144-A4880114FEED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A9A4B3-878A-4A5B-9B3D-849678175FF4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27250A4-3D52-4B40-AA4F-9A767B7649C4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A01D397-1EE3-4852-8BBD-5561892CCD78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76BEFC2-BD16-4233-A899-66C0A16AE284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4854C72-B377-43AB-B618-30C001C63AE1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4854C72-B377-43AB-B618-30C001C6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8A4DB7E-9AD1-4D99-A901-02DFB203C7C3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8A4DB7E-9AD1-4D99-A901-02DFB203C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E0CC73F5-3327-4594-BABE-D2E36DFC766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1950686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C035DFF-4CBD-47DB-B2A0-C69AF14E5646}"/>
              </a:ext>
            </a:extLst>
          </p:cNvPr>
          <p:cNvGrpSpPr/>
          <p:nvPr/>
        </p:nvGrpSpPr>
        <p:grpSpPr>
          <a:xfrm>
            <a:off x="8309017" y="91851"/>
            <a:ext cx="1680546" cy="1136712"/>
            <a:chOff x="7140558" y="558640"/>
            <a:chExt cx="1680546" cy="113671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F25A577-857B-47EB-9EA7-F98E8F9ED4A0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FA00CAE-5A10-4925-930E-DCC7BDF251FE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C7E8F5D-ACA8-48AE-B298-A06949F9BA63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184FD15-B076-451C-9677-CFE83BD96FE0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F22740B-9682-43C3-8551-AB179F2C1097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30B0818-7733-4DFD-87ED-E34007FBEDE8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F16E324-2178-4BE1-A320-3B1A80FFE98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BD8FCE0-185B-4C15-890E-3D10E76D4D9A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739179-874D-43EB-98F0-AD3AED6B343F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4C3A726-AB3F-41BC-9D14-6C904D24DD4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7F4EE4D-4F98-4472-92DB-F754C3E6C593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DCC9325-70AA-4753-AF03-C7ECD9E144F3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F8F5995-4FD7-4AD3-8D87-39FF0CC0C873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F2A5C36-6206-474A-80BC-7C4591AAD41C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C2F4902-62BE-451E-9379-2FADFB3DCF7E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8EA39C3-54BD-4EFB-AC69-EE9CA754F650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ED68F60-6CCC-4754-98B0-C7BC8CE15222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77F9E3-5C6C-4B88-8217-9AD15DAB63A5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338F920-1072-4CA7-8380-2628273D34B2}"/>
              </a:ext>
            </a:extLst>
          </p:cNvPr>
          <p:cNvGrpSpPr/>
          <p:nvPr/>
        </p:nvGrpSpPr>
        <p:grpSpPr>
          <a:xfrm>
            <a:off x="8311642" y="5648422"/>
            <a:ext cx="1677921" cy="1136712"/>
            <a:chOff x="8311644" y="5648422"/>
            <a:chExt cx="1677921" cy="113671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3688B81-FA4E-4BAC-A9D1-924751C10959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80A4377-E472-45FA-9380-D4967EB36656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DD632DA-FFAA-4286-A9B4-40CADEF2506A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A719AC1-2160-41C8-B127-02A0717281BB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CB483C5-7685-42A7-9678-0E4B72D20D2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45B7087-5EA0-4424-B7DB-2C4BC43C5E1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0BF4C05-C0AA-4BA3-AE3F-72AB8B8499E6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4685D2B-6AAB-4F7F-A3E9-344D011E8F18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D321EED-7E83-4CC9-B9CF-1A22FD649462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D8356DE-7021-46E6-997E-9EF0B96ECD03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EE63EC6-4404-420F-9F51-D53D6124A594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AAD183-BCA0-44C7-B795-F0E06A41A12B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11A58DC-7F6F-4351-BF20-77BF2798AD9D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298D3-9A74-48F1-B510-455AED5C0B98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FAD555B-874B-4EB1-8515-DCA9D5E63844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3A39E33-D199-4504-A1B9-6069A7799391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C37F541-9F90-4362-B583-12C7A9B19ED0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7433C9-02FB-4BE3-8C6D-E3B47DA8C166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1" y="5146766"/>
            <a:ext cx="0" cy="35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736322-EBF5-4F05-999C-441992741062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B9AB3B0-0FAA-4510-9BD6-76D4D14D08BB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A7E8E5-77E7-492B-8570-4F07CF1EBF0A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4E1F92-EA20-47C6-8495-00530FD4FBC3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4636F2-9C41-4C87-B3AB-0082578A5017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72E55BD6-0D1C-4883-B1FF-47D081D489E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777588-B548-4492-A9F6-ACCD246CCEC7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545EDB-0CFE-49A6-9C71-16D6BD2C4C32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545EDB-0CFE-49A6-9C71-16D6BD2C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142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C035DFF-4CBD-47DB-B2A0-C69AF14E5646}"/>
              </a:ext>
            </a:extLst>
          </p:cNvPr>
          <p:cNvGrpSpPr/>
          <p:nvPr/>
        </p:nvGrpSpPr>
        <p:grpSpPr>
          <a:xfrm>
            <a:off x="8309017" y="91851"/>
            <a:ext cx="1680546" cy="1136712"/>
            <a:chOff x="7140558" y="558640"/>
            <a:chExt cx="1680546" cy="113671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F25A577-857B-47EB-9EA7-F98E8F9ED4A0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FA00CAE-5A10-4925-930E-DCC7BDF251FE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C7E8F5D-ACA8-48AE-B298-A06949F9BA63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184FD15-B076-451C-9677-CFE83BD96FE0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F22740B-9682-43C3-8551-AB179F2C1097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30B0818-7733-4DFD-87ED-E34007FBEDE8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F16E324-2178-4BE1-A320-3B1A80FFE98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BD8FCE0-185B-4C15-890E-3D10E76D4D9A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739179-874D-43EB-98F0-AD3AED6B343F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4C3A726-AB3F-41BC-9D14-6C904D24DD4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7F4EE4D-4F98-4472-92DB-F754C3E6C593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DCC9325-70AA-4753-AF03-C7ECD9E144F3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F8F5995-4FD7-4AD3-8D87-39FF0CC0C873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F2A5C36-6206-474A-80BC-7C4591AAD41C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C2F4902-62BE-451E-9379-2FADFB3DCF7E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8EA39C3-54BD-4EFB-AC69-EE9CA754F650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ED68F60-6CCC-4754-98B0-C7BC8CE15222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77F9E3-5C6C-4B88-8217-9AD15DAB63A5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338F920-1072-4CA7-8380-2628273D34B2}"/>
              </a:ext>
            </a:extLst>
          </p:cNvPr>
          <p:cNvGrpSpPr/>
          <p:nvPr/>
        </p:nvGrpSpPr>
        <p:grpSpPr>
          <a:xfrm>
            <a:off x="8311642" y="5648422"/>
            <a:ext cx="1677921" cy="1136712"/>
            <a:chOff x="8311644" y="5648422"/>
            <a:chExt cx="1677921" cy="113671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3688B81-FA4E-4BAC-A9D1-924751C10959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80A4377-E472-45FA-9380-D4967EB36656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DD632DA-FFAA-4286-A9B4-40CADEF2506A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A719AC1-2160-41C8-B127-02A0717281BB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CB483C5-7685-42A7-9678-0E4B72D20D2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45B7087-5EA0-4424-B7DB-2C4BC43C5E1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0BF4C05-C0AA-4BA3-AE3F-72AB8B8499E6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4685D2B-6AAB-4F7F-A3E9-344D011E8F18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D321EED-7E83-4CC9-B9CF-1A22FD649462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D8356DE-7021-46E6-997E-9EF0B96ECD03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EE63EC6-4404-420F-9F51-D53D6124A594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AAD183-BCA0-44C7-B795-F0E06A41A12B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11A58DC-7F6F-4351-BF20-77BF2798AD9D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298D3-9A74-48F1-B510-455AED5C0B98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FAD555B-874B-4EB1-8515-DCA9D5E63844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3A39E33-D199-4504-A1B9-6069A7799391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C37F541-9F90-4362-B583-12C7A9B19ED0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7433C9-02FB-4BE3-8C6D-E3B47DA8C166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1" y="5146766"/>
            <a:ext cx="0" cy="35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736322-EBF5-4F05-999C-441992741062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B9AB3B0-0FAA-4510-9BD6-76D4D14D08BB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A7E8E5-77E7-492B-8570-4F07CF1EBF0A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4E1F92-EA20-47C6-8495-00530FD4FBC3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4636F2-9C41-4C87-B3AB-0082578A5017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732893-7AE3-4E8B-9048-00A529CCD601}"/>
                  </a:ext>
                </a:extLst>
              </p:cNvPr>
              <p:cNvSpPr txBox="1"/>
              <p:nvPr/>
            </p:nvSpPr>
            <p:spPr>
              <a:xfrm>
                <a:off x="4820664" y="2534787"/>
                <a:ext cx="2601736" cy="22411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0.233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=70%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=30%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732893-7AE3-4E8B-9048-00A529CC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664" y="2534787"/>
                <a:ext cx="2601736" cy="2241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72E55BD6-0D1C-4883-B1FF-47D081D489E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BEF6FE1-01BF-44F0-9943-A0B3C8B86B05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AC5EB59-CF2D-4ECF-B1F8-87B3E31A9770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AC5EB59-CF2D-4ECF-B1F8-87B3E31A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14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C4196-320B-4FFE-BE23-C23ED7DB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61" y="2377440"/>
            <a:ext cx="4969875" cy="37956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DAC111-E7BA-4199-95FF-DBAC3FE23AE8}"/>
              </a:ext>
            </a:extLst>
          </p:cNvPr>
          <p:cNvSpPr txBox="1"/>
          <p:nvPr/>
        </p:nvSpPr>
        <p:spPr>
          <a:xfrm>
            <a:off x="362079" y="116614"/>
            <a:ext cx="7126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more dimensions…</a:t>
            </a:r>
          </a:p>
        </p:txBody>
      </p:sp>
    </p:spTree>
    <p:extLst>
      <p:ext uri="{BB962C8B-B14F-4D97-AF65-F5344CB8AC3E}">
        <p14:creationId xmlns:p14="http://schemas.microsoft.com/office/powerpoint/2010/main" val="4075313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C4196-320B-4FFE-BE23-C23ED7DB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61" y="2377440"/>
            <a:ext cx="4969875" cy="37956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96FFF0-8509-41CF-9BE2-3C4D3B6BE1CA}"/>
              </a:ext>
            </a:extLst>
          </p:cNvPr>
          <p:cNvSpPr txBox="1"/>
          <p:nvPr/>
        </p:nvSpPr>
        <p:spPr>
          <a:xfrm flipH="1">
            <a:off x="3813549" y="5691887"/>
            <a:ext cx="71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A1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3762D-0C5D-4DC4-90A7-48FFADF27E39}"/>
              </a:ext>
            </a:extLst>
          </p:cNvPr>
          <p:cNvSpPr txBox="1"/>
          <p:nvPr/>
        </p:nvSpPr>
        <p:spPr>
          <a:xfrm flipH="1">
            <a:off x="3087214" y="4876800"/>
            <a:ext cx="71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B1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28AA7-8DF2-45DA-90D5-66CADB9A1F3F}"/>
              </a:ext>
            </a:extLst>
          </p:cNvPr>
          <p:cNvSpPr txBox="1"/>
          <p:nvPr/>
        </p:nvSpPr>
        <p:spPr>
          <a:xfrm flipH="1">
            <a:off x="5067360" y="5322555"/>
            <a:ext cx="70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F0"/>
                </a:solidFill>
              </a:rPr>
              <a:t>C1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3B9F4-0A46-4412-B6B6-D3ED0C54E6B0}"/>
              </a:ext>
            </a:extLst>
          </p:cNvPr>
          <p:cNvSpPr txBox="1"/>
          <p:nvPr/>
        </p:nvSpPr>
        <p:spPr>
          <a:xfrm flipH="1">
            <a:off x="4440459" y="6052973"/>
            <a:ext cx="71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E4D106-40A3-468E-90B6-25D8DE8F441A}"/>
              </a:ext>
            </a:extLst>
          </p:cNvPr>
          <p:cNvCxnSpPr/>
          <p:nvPr/>
        </p:nvCxnSpPr>
        <p:spPr>
          <a:xfrm>
            <a:off x="3563887" y="6052973"/>
            <a:ext cx="2379713" cy="1022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73A88-5C02-462B-8942-5790EB2315E7}"/>
              </a:ext>
            </a:extLst>
          </p:cNvPr>
          <p:cNvCxnSpPr>
            <a:cxnSpLocks/>
          </p:cNvCxnSpPr>
          <p:nvPr/>
        </p:nvCxnSpPr>
        <p:spPr>
          <a:xfrm>
            <a:off x="3563887" y="5780439"/>
            <a:ext cx="991180" cy="1076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99FE17-8400-4FD8-A5B7-827C89863B64}"/>
              </a:ext>
            </a:extLst>
          </p:cNvPr>
          <p:cNvCxnSpPr>
            <a:cxnSpLocks/>
          </p:cNvCxnSpPr>
          <p:nvPr/>
        </p:nvCxnSpPr>
        <p:spPr>
          <a:xfrm flipV="1">
            <a:off x="3429000" y="4614333"/>
            <a:ext cx="0" cy="106039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CD6B7B-4C6C-4E59-B157-2992C54B060F}"/>
              </a:ext>
            </a:extLst>
          </p:cNvPr>
          <p:cNvCxnSpPr>
            <a:cxnSpLocks/>
          </p:cNvCxnSpPr>
          <p:nvPr/>
        </p:nvCxnSpPr>
        <p:spPr>
          <a:xfrm flipH="1">
            <a:off x="4891534" y="5301166"/>
            <a:ext cx="351652" cy="313267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CB0E91-20B5-4F2F-96FE-65A45A0088E5}"/>
              </a:ext>
            </a:extLst>
          </p:cNvPr>
          <p:cNvCxnSpPr/>
          <p:nvPr/>
        </p:nvCxnSpPr>
        <p:spPr>
          <a:xfrm flipV="1">
            <a:off x="6282267" y="5246132"/>
            <a:ext cx="965200" cy="8068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CC2DB5-C9CD-457D-AF46-41925DCFA913}"/>
              </a:ext>
            </a:extLst>
          </p:cNvPr>
          <p:cNvCxnSpPr/>
          <p:nvPr/>
        </p:nvCxnSpPr>
        <p:spPr>
          <a:xfrm>
            <a:off x="3121080" y="3310467"/>
            <a:ext cx="0" cy="24699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EC2B060-7FBD-485F-A069-F34A9B06451D}"/>
              </a:ext>
            </a:extLst>
          </p:cNvPr>
          <p:cNvSpPr txBox="1"/>
          <p:nvPr/>
        </p:nvSpPr>
        <p:spPr>
          <a:xfrm flipH="1">
            <a:off x="2779028" y="4342493"/>
            <a:ext cx="71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83060E-C3FB-41BD-9B5F-853C541740C4}"/>
              </a:ext>
            </a:extLst>
          </p:cNvPr>
          <p:cNvSpPr txBox="1"/>
          <p:nvPr/>
        </p:nvSpPr>
        <p:spPr>
          <a:xfrm flipH="1">
            <a:off x="6833821" y="5490065"/>
            <a:ext cx="71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55CFBA-9DB2-4D98-8664-DAC441A8F006}"/>
              </a:ext>
            </a:extLst>
          </p:cNvPr>
          <p:cNvSpPr txBox="1"/>
          <p:nvPr/>
        </p:nvSpPr>
        <p:spPr>
          <a:xfrm>
            <a:off x="362079" y="116614"/>
            <a:ext cx="10802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more dimensions…, more interactions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09CB59-6431-48A9-B705-6FCD7CE4AEFF}"/>
              </a:ext>
            </a:extLst>
          </p:cNvPr>
          <p:cNvSpPr txBox="1"/>
          <p:nvPr/>
        </p:nvSpPr>
        <p:spPr>
          <a:xfrm>
            <a:off x="362079" y="1062570"/>
            <a:ext cx="1047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We end up with pairwise interactions of A*B, A*C, B*C, </a:t>
            </a:r>
            <a:r>
              <a:rPr lang="en-GB" dirty="0"/>
              <a:t>and the three-way interaction A*B*C.  </a:t>
            </a:r>
          </a:p>
        </p:txBody>
      </p:sp>
    </p:spTree>
    <p:extLst>
      <p:ext uri="{BB962C8B-B14F-4D97-AF65-F5344CB8AC3E}">
        <p14:creationId xmlns:p14="http://schemas.microsoft.com/office/powerpoint/2010/main" val="1480240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14225D3-274A-4A33-A814-89370CD005D9}"/>
              </a:ext>
            </a:extLst>
          </p:cNvPr>
          <p:cNvGrpSpPr/>
          <p:nvPr/>
        </p:nvGrpSpPr>
        <p:grpSpPr>
          <a:xfrm>
            <a:off x="2374051" y="1530950"/>
            <a:ext cx="1913467" cy="1913467"/>
            <a:chOff x="1683986" y="164675"/>
            <a:chExt cx="1913467" cy="1913467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9E99959-C139-4170-9DC5-5F772CC6ECD0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3AD2B8D-AE7D-4D87-B7A1-1BDF3D5C2FC2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954B8B0-B4C2-4A68-83F7-73F3C5E9E205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14ED80A-1D77-4598-A364-8A715AC09A06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5AFD6EA-4128-4DC7-8585-7BBD9DC2DCD3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E151040-665D-450A-8FCF-0D13161F6638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E1CF720-2DF7-441A-942E-A6F535BCFE5A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E3FCC6-22AE-4049-88F1-62F4E3BE453E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526A135-AF2B-43D6-934D-80481C999B86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5BFA98D-E6C2-4D69-9409-2B3F892BBFBF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1BE4155-D59D-44C0-8F69-9D46ED92CD3D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111AA0A-5DF2-4253-AD06-9E7A575C860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659F939-51D3-44B7-B388-F8B0DCCEE8B8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B693FE6-F824-4F76-84BB-A89FF171A04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14D3809-1BC1-4710-A26F-435B20E58569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98BEE3-D87A-4D98-8F96-D59AC364E199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936FBB9-4226-4CED-B36F-22195A00B981}"/>
              </a:ext>
            </a:extLst>
          </p:cNvPr>
          <p:cNvGrpSpPr/>
          <p:nvPr/>
        </p:nvGrpSpPr>
        <p:grpSpPr>
          <a:xfrm>
            <a:off x="7929084" y="1531381"/>
            <a:ext cx="1913467" cy="1913467"/>
            <a:chOff x="4273591" y="2277533"/>
            <a:chExt cx="1913467" cy="1913467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5FE9779-B7A2-4910-B929-5FCF1177335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9B2DD1B-FF1F-4063-901A-7F2A0A45C28D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1E54171-560D-4999-A132-FF43329CFCAF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462D13D-0EEB-41D5-BF53-D7DD3F46CC11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81147B7-F1D4-4C17-972B-FDD3D8916F69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46B9E42-F404-491C-B520-121EB89E4711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5A5838F-5A4D-4ACE-91A1-D164BE10309F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56A9EDB-4A23-45ED-8404-55340A75DF87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4F79285-CDCB-4F4B-B1AD-9730695FD93B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CD6E680-3FC4-47C2-8A70-0A27F12EA4D8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D1E2F3E-96AB-479A-A8B1-0F763647B8E1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FF49439-872B-4CC9-B2AB-661021D92269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F1EBFCA-CBA2-4B39-87BF-620859C338B8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66317D9-E460-41AA-982A-7261FF830DF9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6EF7F86-83B5-4A95-B5E2-C00C39A9D2BC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639D489E-045D-46FD-8D67-383261A5D60C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2392736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2392736" cy="485774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3270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3 factor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0D20A9E-C125-45CC-B137-58041DA4B24A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7BBD5B-4B47-44AA-8BBF-12CE580E13AC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85D8B-C6CE-4CE1-8C67-7F27418E85A6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BD3BD1-CD83-4760-A93B-7F7F9C451D7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B02735A-A0FE-4D64-A463-AF990BC0EA8B}"/>
              </a:ext>
            </a:extLst>
          </p:cNvPr>
          <p:cNvSpPr txBox="1"/>
          <p:nvPr/>
        </p:nvSpPr>
        <p:spPr>
          <a:xfrm>
            <a:off x="590149" y="5645158"/>
            <a:ext cx="10474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coloured shapes x </a:t>
            </a:r>
            <a:br>
              <a:rPr lang="en-GB" sz="1800" dirty="0"/>
            </a:br>
            <a:r>
              <a:rPr lang="en-GB" sz="1800" dirty="0"/>
              <a:t>proportion of coloured shapes that are squares x </a:t>
            </a:r>
            <a:br>
              <a:rPr lang="en-GB" sz="1800" dirty="0"/>
            </a:br>
            <a:r>
              <a:rPr lang="en-GB" sz="1800" dirty="0"/>
              <a:t>proportion of coloured squares that are green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8DF9D-DB64-4E84-A41D-85B2CBB287D7}"/>
              </a:ext>
            </a:extLst>
          </p:cNvPr>
          <p:cNvGrpSpPr/>
          <p:nvPr/>
        </p:nvGrpSpPr>
        <p:grpSpPr>
          <a:xfrm>
            <a:off x="4565405" y="4284895"/>
            <a:ext cx="2289726" cy="1157051"/>
            <a:chOff x="4460901" y="4755159"/>
            <a:chExt cx="2289726" cy="1157051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123300B-2651-43D2-BDD9-B57C45FF786C}"/>
                </a:ext>
              </a:extLst>
            </p:cNvPr>
            <p:cNvGrpSpPr/>
            <p:nvPr/>
          </p:nvGrpSpPr>
          <p:grpSpPr>
            <a:xfrm>
              <a:off x="5154465" y="5479441"/>
              <a:ext cx="1596162" cy="432769"/>
              <a:chOff x="2148455" y="5051154"/>
              <a:chExt cx="1596162" cy="432769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639355D-41E0-4144-8931-4D9ABFF7D6C8}"/>
                  </a:ext>
                </a:extLst>
              </p:cNvPr>
              <p:cNvSpPr txBox="1"/>
              <p:nvPr/>
            </p:nvSpPr>
            <p:spPr>
              <a:xfrm>
                <a:off x="3434791" y="5206924"/>
                <a:ext cx="2616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+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1A09426-63B7-436E-A81A-41C570E6E0B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8455" y="5051154"/>
                    <a:ext cx="1481849" cy="369332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GB" dirty="0"/>
                      <a:t>    </a:t>
                    </a:r>
                    <a14:m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1A09426-63B7-436E-A81A-41C570E6E0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8455" y="5051154"/>
                    <a:ext cx="14818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1AF8B2A-6CC9-4B2A-9FD1-6C8D3D1F309A}"/>
                  </a:ext>
                </a:extLst>
              </p:cNvPr>
              <p:cNvSpPr txBox="1"/>
              <p:nvPr/>
            </p:nvSpPr>
            <p:spPr>
              <a:xfrm>
                <a:off x="2483578" y="5192674"/>
                <a:ext cx="2616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+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9CF00B0-145B-49F5-8721-D112AC2197C2}"/>
                  </a:ext>
                </a:extLst>
              </p:cNvPr>
              <p:cNvSpPr/>
              <p:nvPr/>
            </p:nvSpPr>
            <p:spPr>
              <a:xfrm>
                <a:off x="2547954" y="507285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1E40CFA-83DE-468F-B75F-4A99E08AB98E}"/>
                  </a:ext>
                </a:extLst>
              </p:cNvPr>
              <p:cNvSpPr/>
              <p:nvPr/>
            </p:nvSpPr>
            <p:spPr>
              <a:xfrm>
                <a:off x="2435363" y="5279976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44CDA1E-7A10-4D76-BAB6-A8677B43BA63}"/>
                  </a:ext>
                </a:extLst>
              </p:cNvPr>
              <p:cNvSpPr/>
              <p:nvPr/>
            </p:nvSpPr>
            <p:spPr>
              <a:xfrm>
                <a:off x="2675020" y="527997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7EF5E93C-8DA8-4880-B77E-E0BB94EB0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5363" y="5235820"/>
                <a:ext cx="358041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8E6D3EA-1A0A-45EC-B0C3-7301B7EFE25A}"/>
                  </a:ext>
                </a:extLst>
              </p:cNvPr>
              <p:cNvSpPr/>
              <p:nvPr/>
            </p:nvSpPr>
            <p:spPr>
              <a:xfrm>
                <a:off x="3010916" y="5075379"/>
                <a:ext cx="118384" cy="119819"/>
              </a:xfrm>
              <a:prstGeom prst="rect">
                <a:avLst/>
              </a:prstGeom>
              <a:solidFill>
                <a:schemeClr val="accent6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0C0D34A-E83B-401A-AF74-154742FB405D}"/>
                  </a:ext>
                </a:extLst>
              </p:cNvPr>
              <p:cNvSpPr/>
              <p:nvPr/>
            </p:nvSpPr>
            <p:spPr>
              <a:xfrm>
                <a:off x="3009991" y="5279976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F3218CE-FCD9-4485-B5EA-F8AFA2F81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704" y="5238343"/>
                <a:ext cx="15500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2571508-6263-4C5B-98A3-065D2E015A4A}"/>
                  </a:ext>
                </a:extLst>
              </p:cNvPr>
              <p:cNvSpPr/>
              <p:nvPr/>
            </p:nvSpPr>
            <p:spPr>
              <a:xfrm>
                <a:off x="3499167" y="5087105"/>
                <a:ext cx="118384" cy="119819"/>
              </a:xfrm>
              <a:prstGeom prst="rect">
                <a:avLst/>
              </a:prstGeom>
              <a:solidFill>
                <a:schemeClr val="accent6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6E73856-CEEB-4448-9667-34DB9E6D62F8}"/>
                  </a:ext>
                </a:extLst>
              </p:cNvPr>
              <p:cNvSpPr/>
              <p:nvPr/>
            </p:nvSpPr>
            <p:spPr>
              <a:xfrm>
                <a:off x="3386576" y="5294226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53D1DA1-407E-4FA1-815F-38CBCCBECA95}"/>
                  </a:ext>
                </a:extLst>
              </p:cNvPr>
              <p:cNvSpPr/>
              <p:nvPr/>
            </p:nvSpPr>
            <p:spPr>
              <a:xfrm>
                <a:off x="3626233" y="529422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5A5F93-0C7B-4F85-A29E-11AC10FA2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6576" y="5250070"/>
                <a:ext cx="358041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BF86D86-251F-4BF2-9D69-71785CC0F902}"/>
                </a:ext>
              </a:extLst>
            </p:cNvPr>
            <p:cNvGrpSpPr/>
            <p:nvPr/>
          </p:nvGrpSpPr>
          <p:grpSpPr>
            <a:xfrm>
              <a:off x="4663850" y="4755159"/>
              <a:ext cx="1564332" cy="684862"/>
              <a:chOff x="4601337" y="304596"/>
              <a:chExt cx="1564332" cy="684862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EAC8C7FF-ECF1-45B9-9F6C-534BA18005B3}"/>
                  </a:ext>
                </a:extLst>
              </p:cNvPr>
              <p:cNvCxnSpPr>
                <a:cxnSpLocks/>
                <a:endCxn id="113" idx="0"/>
              </p:cNvCxnSpPr>
              <p:nvPr/>
            </p:nvCxnSpPr>
            <p:spPr>
              <a:xfrm>
                <a:off x="4765780" y="701898"/>
                <a:ext cx="58819" cy="2710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08BA50F0-D8FC-4C32-8C2A-AD4EBA4692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2680" y="660421"/>
                <a:ext cx="2779" cy="3290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9E389C0-A92B-4122-B4DB-59D53BF01780}"/>
                  </a:ext>
                </a:extLst>
              </p:cNvPr>
              <p:cNvSpPr txBox="1"/>
              <p:nvPr/>
            </p:nvSpPr>
            <p:spPr>
              <a:xfrm>
                <a:off x="4601337" y="304596"/>
                <a:ext cx="1564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       B           C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2FF9F2-80FA-415C-B28C-69F0259BDFD4}"/>
                </a:ext>
              </a:extLst>
            </p:cNvPr>
            <p:cNvGrpSpPr/>
            <p:nvPr/>
          </p:nvGrpSpPr>
          <p:grpSpPr>
            <a:xfrm>
              <a:off x="4460901" y="5423500"/>
              <a:ext cx="759809" cy="474460"/>
              <a:chOff x="4095634" y="5397504"/>
              <a:chExt cx="759809" cy="474460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0CB2BB0-D316-487F-B3B5-2B85D4D63DBD}"/>
                  </a:ext>
                </a:extLst>
              </p:cNvPr>
              <p:cNvSpPr txBox="1"/>
              <p:nvPr/>
            </p:nvSpPr>
            <p:spPr>
              <a:xfrm>
                <a:off x="4131921" y="5594965"/>
                <a:ext cx="71627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+    +    +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1782848-F415-4624-BA40-0294C5FE94A7}"/>
                  </a:ext>
                </a:extLst>
              </p:cNvPr>
              <p:cNvSpPr/>
              <p:nvPr/>
            </p:nvSpPr>
            <p:spPr>
              <a:xfrm>
                <a:off x="4095634" y="5686562"/>
                <a:ext cx="118384" cy="119819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E295526-A4D3-45C2-80A9-AAEE60E605F7}"/>
                  </a:ext>
                </a:extLst>
              </p:cNvPr>
              <p:cNvSpPr/>
              <p:nvPr/>
            </p:nvSpPr>
            <p:spPr>
              <a:xfrm>
                <a:off x="4311436" y="5686561"/>
                <a:ext cx="118384" cy="119819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F5CC439-CF72-4D12-BB06-F0B5DB109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5634" y="5642406"/>
                <a:ext cx="75980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1F01B74-8CBD-4350-B5D8-D05F6E56C8B7}"/>
                  </a:ext>
                </a:extLst>
              </p:cNvPr>
              <p:cNvSpPr/>
              <p:nvPr/>
            </p:nvSpPr>
            <p:spPr>
              <a:xfrm>
                <a:off x="4525234" y="5684401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1D96809-705A-40A4-B51C-DDB5B7B1C081}"/>
                  </a:ext>
                </a:extLst>
              </p:cNvPr>
              <p:cNvSpPr/>
              <p:nvPr/>
            </p:nvSpPr>
            <p:spPr>
              <a:xfrm>
                <a:off x="4737059" y="5684400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7A3A726-6F30-458B-A169-33B904843A0D}"/>
                  </a:ext>
                </a:extLst>
              </p:cNvPr>
              <p:cNvSpPr txBox="1"/>
              <p:nvPr/>
            </p:nvSpPr>
            <p:spPr>
              <a:xfrm>
                <a:off x="4347932" y="5397504"/>
                <a:ext cx="347825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+    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5067AF2D-058F-49D1-A4E9-B8D189856475}"/>
                  </a:ext>
                </a:extLst>
              </p:cNvPr>
              <p:cNvSpPr/>
              <p:nvPr/>
            </p:nvSpPr>
            <p:spPr>
              <a:xfrm>
                <a:off x="4311645" y="5489101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D0C9224F-26A0-41F5-9066-A91BA09659CA}"/>
                  </a:ext>
                </a:extLst>
              </p:cNvPr>
              <p:cNvSpPr/>
              <p:nvPr/>
            </p:nvSpPr>
            <p:spPr>
              <a:xfrm>
                <a:off x="4527447" y="5489100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96102D7-2AB9-4998-8AF6-1027849E77A9}"/>
                </a:ext>
              </a:extLst>
            </p:cNvPr>
            <p:cNvCxnSpPr>
              <a:cxnSpLocks/>
              <a:stCxn id="101" idx="2"/>
            </p:cNvCxnSpPr>
            <p:nvPr/>
          </p:nvCxnSpPr>
          <p:spPr>
            <a:xfrm>
              <a:off x="5446016" y="5124491"/>
              <a:ext cx="167141" cy="2629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7437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980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6 ways to get ∆R, 6 sets of 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0B61D-0FC4-4F3F-A588-CE425394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0" y="2224093"/>
            <a:ext cx="5632911" cy="4184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BA92F-C277-46A9-BBB4-709399CCCAFA}"/>
              </a:ext>
            </a:extLst>
          </p:cNvPr>
          <p:cNvSpPr txBox="1"/>
          <p:nvPr/>
        </p:nvSpPr>
        <p:spPr>
          <a:xfrm>
            <a:off x="6599563" y="3092325"/>
            <a:ext cx="1314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	…</a:t>
            </a:r>
          </a:p>
          <a:p>
            <a:endParaRPr lang="en-GB" dirty="0"/>
          </a:p>
          <a:p>
            <a:r>
              <a:rPr lang="en-GB" dirty="0"/>
              <a:t>…	…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…	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2BAB65-6FE7-41D9-B149-EC2CB8A7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26" y="2224093"/>
            <a:ext cx="4102776" cy="373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31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980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6 ways to get ∆R, 6 sets of 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0B61D-0FC4-4F3F-A588-CE425394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0" y="2224093"/>
            <a:ext cx="5632911" cy="4184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BA92F-C277-46A9-BBB4-709399CCCAFA}"/>
              </a:ext>
            </a:extLst>
          </p:cNvPr>
          <p:cNvSpPr txBox="1"/>
          <p:nvPr/>
        </p:nvSpPr>
        <p:spPr>
          <a:xfrm>
            <a:off x="6599563" y="3092325"/>
            <a:ext cx="1314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	…</a:t>
            </a:r>
          </a:p>
          <a:p>
            <a:endParaRPr lang="en-GB" dirty="0"/>
          </a:p>
          <a:p>
            <a:r>
              <a:rPr lang="en-GB" dirty="0"/>
              <a:t>…	…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…	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2BAB65-6FE7-41D9-B149-EC2CB8A7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26" y="2224093"/>
            <a:ext cx="4102776" cy="37320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62C516-32DF-4345-B2E2-501A3F0A193C}"/>
              </a:ext>
            </a:extLst>
          </p:cNvPr>
          <p:cNvSpPr/>
          <p:nvPr/>
        </p:nvSpPr>
        <p:spPr>
          <a:xfrm>
            <a:off x="6513975" y="3969488"/>
            <a:ext cx="1066665" cy="405518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8AD3F-B233-4197-9673-A7EF90AA8EBD}"/>
              </a:ext>
            </a:extLst>
          </p:cNvPr>
          <p:cNvSpPr/>
          <p:nvPr/>
        </p:nvSpPr>
        <p:spPr>
          <a:xfrm>
            <a:off x="5264126" y="4515239"/>
            <a:ext cx="1016713" cy="322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7EC67-58BA-4747-BF0B-2937501DF723}"/>
              </a:ext>
            </a:extLst>
          </p:cNvPr>
          <p:cNvSpPr/>
          <p:nvPr/>
        </p:nvSpPr>
        <p:spPr>
          <a:xfrm>
            <a:off x="7914557" y="4638183"/>
            <a:ext cx="1183529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5B9F5-0A5C-4B5C-ABEE-4D897940FFA3}"/>
              </a:ext>
            </a:extLst>
          </p:cNvPr>
          <p:cNvSpPr/>
          <p:nvPr/>
        </p:nvSpPr>
        <p:spPr>
          <a:xfrm>
            <a:off x="1405687" y="3239046"/>
            <a:ext cx="985808" cy="32299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53CA2-F8FD-479D-A23E-2CCCF35C6BC5}"/>
              </a:ext>
            </a:extLst>
          </p:cNvPr>
          <p:cNvSpPr/>
          <p:nvPr/>
        </p:nvSpPr>
        <p:spPr>
          <a:xfrm>
            <a:off x="2681999" y="3239045"/>
            <a:ext cx="985808" cy="32299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3E310-B5DF-4677-B8F5-1B21240083FE}"/>
              </a:ext>
            </a:extLst>
          </p:cNvPr>
          <p:cNvSpPr txBox="1"/>
          <p:nvPr/>
        </p:nvSpPr>
        <p:spPr>
          <a:xfrm>
            <a:off x="362079" y="1062570"/>
            <a:ext cx="1047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Note that starting/ending combinations, e.g. B</a:t>
            </a:r>
            <a:r>
              <a:rPr lang="en-GB" baseline="-25000" dirty="0"/>
              <a:t>1</a:t>
            </a:r>
            <a:r>
              <a:rPr lang="en-GB" dirty="0"/>
              <a:t>C</a:t>
            </a:r>
            <a:r>
              <a:rPr lang="en-GB" baseline="-25000" dirty="0"/>
              <a:t>1</a:t>
            </a:r>
            <a:r>
              <a:rPr lang="en-GB" dirty="0"/>
              <a:t> or B</a:t>
            </a:r>
            <a:r>
              <a:rPr lang="en-GB" baseline="-25000" dirty="0"/>
              <a:t>2</a:t>
            </a:r>
            <a:r>
              <a:rPr lang="en-GB" dirty="0"/>
              <a:t>C</a:t>
            </a:r>
            <a:r>
              <a:rPr lang="en-GB" baseline="-25000" dirty="0"/>
              <a:t>2</a:t>
            </a:r>
            <a:r>
              <a:rPr lang="en-GB" dirty="0"/>
              <a:t> arise more frequently than mixed B</a:t>
            </a:r>
            <a:r>
              <a:rPr lang="en-GB" baseline="-25000" dirty="0"/>
              <a:t>1</a:t>
            </a:r>
            <a:r>
              <a:rPr lang="en-GB" dirty="0"/>
              <a:t>C</a:t>
            </a:r>
            <a:r>
              <a:rPr lang="en-GB" baseline="-25000" dirty="0"/>
              <a:t>2 </a:t>
            </a:r>
            <a:r>
              <a:rPr lang="en-GB" dirty="0"/>
              <a:t>or B</a:t>
            </a:r>
            <a:r>
              <a:rPr lang="en-GB" baseline="-25000" dirty="0"/>
              <a:t>2</a:t>
            </a:r>
            <a:r>
              <a:rPr lang="en-GB" dirty="0"/>
              <a:t>C</a:t>
            </a:r>
            <a:r>
              <a:rPr lang="en-GB" baseline="-25000" dirty="0"/>
              <a:t>1 </a:t>
            </a:r>
            <a:r>
              <a:rPr lang="en-GB" dirty="0"/>
              <a:t>…</a:t>
            </a:r>
            <a:endParaRPr lang="en-GB" sz="1800" baseline="-25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E363AB-B581-4346-83C5-0B20E9B6BF05}"/>
              </a:ext>
            </a:extLst>
          </p:cNvPr>
          <p:cNvSpPr/>
          <p:nvPr/>
        </p:nvSpPr>
        <p:spPr>
          <a:xfrm>
            <a:off x="4009006" y="3910799"/>
            <a:ext cx="1056166" cy="32299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3233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5523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Das Gupta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AAE955-8726-440F-A981-65C345CFF3E8}"/>
              </a:ext>
            </a:extLst>
          </p:cNvPr>
          <p:cNvGrpSpPr/>
          <p:nvPr/>
        </p:nvGrpSpPr>
        <p:grpSpPr>
          <a:xfrm>
            <a:off x="1018903" y="1568234"/>
            <a:ext cx="6484324" cy="4420217"/>
            <a:chOff x="2255520" y="1933994"/>
            <a:chExt cx="6484324" cy="442021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611169-C731-42B2-8201-237C08115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3152" y="1933994"/>
              <a:ext cx="5496692" cy="442021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8EF815-420C-4341-98A3-3162C09B589F}"/>
                </a:ext>
              </a:extLst>
            </p:cNvPr>
            <p:cNvSpPr/>
            <p:nvPr/>
          </p:nvSpPr>
          <p:spPr>
            <a:xfrm>
              <a:off x="2255520" y="5059680"/>
              <a:ext cx="5294811" cy="600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12348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5786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{</a:t>
            </a:r>
            <a:r>
              <a:rPr lang="en-GB" sz="3600" b="1" dirty="0" err="1">
                <a:latin typeface="Goudy Old Style" panose="02020502050305020303" pitchFamily="18" charset="0"/>
              </a:rPr>
              <a:t>DasGuptR</a:t>
            </a:r>
            <a:r>
              <a:rPr lang="en-GB" sz="3600" b="1" dirty="0">
                <a:latin typeface="Goudy Old Style" panose="020205020503050203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9612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E9788F4-BB29-48BC-9046-D37362E9009D}"/>
              </a:ext>
            </a:extLst>
          </p:cNvPr>
          <p:cNvGrpSpPr/>
          <p:nvPr/>
        </p:nvGrpSpPr>
        <p:grpSpPr>
          <a:xfrm>
            <a:off x="2369700" y="2305771"/>
            <a:ext cx="1913467" cy="1913467"/>
            <a:chOff x="1683986" y="164675"/>
            <a:chExt cx="1913467" cy="1913467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DB8548-E94A-4913-82A0-3034359CD7F3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017965C-6999-4D08-A9A1-7D4E3A6DB038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DB0C8EC-CF29-445D-988D-B43B690115B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D6DE867-02E4-484C-8776-0CE80B376EA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EACEE7E-19F7-4F50-ADBA-573210379D70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DE5807B-97F8-4940-8E95-5B43A8D8BCF7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0F16044-BBDA-4350-AA96-3F3DDE1CA93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25B6969-7D2F-4462-8466-B3F501A34CE9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EDC650D-98AF-4E83-B988-288BC688D69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09BBFF8-4E9A-420D-BCF5-B422A3B7E3ED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593E36E-FF7E-48FA-98C6-DBBAB2E2A8D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5E0100-EBF6-4EB7-A0E3-E4E7E9ECDB3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5E8167A-9284-4D0A-8C86-26FFDC4C69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44A946A-48EB-4707-BAB7-92EDCD67A41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1BFE539-A7E3-46FB-B0FC-6649C6A9061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175DAFF-9806-4D77-8205-76C4503AED6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BB2B62-7B14-44F6-8B2F-3AB494159ECF}"/>
              </a:ext>
            </a:extLst>
          </p:cNvPr>
          <p:cNvGrpSpPr/>
          <p:nvPr/>
        </p:nvGrpSpPr>
        <p:grpSpPr>
          <a:xfrm>
            <a:off x="7924733" y="2306202"/>
            <a:ext cx="1913467" cy="1913467"/>
            <a:chOff x="4273591" y="2277533"/>
            <a:chExt cx="1913467" cy="1913467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6D8A446-FE0E-4D3D-9994-E03402E28E54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36F2ABC-40FB-4320-ADAC-BBC0E9CE7A9B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8023EF8-2CF3-46EB-AD50-B4A3E1614602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F1BAE1C-622A-4E45-9C7F-03ACC7D52776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FB680B0-0B4B-4043-949B-6A6C5DEE2860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1E7EEA5-7F93-4A1F-9D31-47C1EB93D22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E733C33-6D24-46C3-A07C-6EEE365C16E4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0BF3D9-F009-44AD-9065-0D8DB71DB2F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10AC7D9-5C8E-4ACA-AC78-09A5FEE423D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E77521F-5055-49BE-8A13-CA504D99BADF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8E2D70-3193-4069-A80D-C143B850D559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0685B6A-CEC2-4AFF-B936-92BE98353C8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4F12F61-AC8D-427A-9577-CDBC3B6801BB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40BBA9A-42FC-4900-A3BE-B2FC14E81C3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BDCA865-D4CE-4053-BCAA-EB133B20A447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48F934D-885B-43A9-BDED-2700DE5DF444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/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0A1C1F6-B381-4679-8078-8D7BCD9F983E}"/>
              </a:ext>
            </a:extLst>
          </p:cNvPr>
          <p:cNvGrpSpPr/>
          <p:nvPr/>
        </p:nvGrpSpPr>
        <p:grpSpPr>
          <a:xfrm>
            <a:off x="5441373" y="5479441"/>
            <a:ext cx="1309254" cy="432769"/>
            <a:chOff x="2435363" y="5051154"/>
            <a:chExt cx="1309254" cy="43276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973E249-B002-46FC-940B-35537F6E5212}"/>
                </a:ext>
              </a:extLst>
            </p:cNvPr>
            <p:cNvSpPr txBox="1"/>
            <p:nvPr/>
          </p:nvSpPr>
          <p:spPr>
            <a:xfrm>
              <a:off x="3434791" y="520692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/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0ABFA6-F69F-44F7-AF41-A4FB54EDB867}"/>
                </a:ext>
              </a:extLst>
            </p:cNvPr>
            <p:cNvSpPr txBox="1"/>
            <p:nvPr/>
          </p:nvSpPr>
          <p:spPr>
            <a:xfrm>
              <a:off x="2483578" y="519267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B3B48D-92A9-4B43-936B-CE149DFB00DF}"/>
                </a:ext>
              </a:extLst>
            </p:cNvPr>
            <p:cNvSpPr/>
            <p:nvPr/>
          </p:nvSpPr>
          <p:spPr>
            <a:xfrm>
              <a:off x="2547954" y="507285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471ACBD-7682-4EEC-A7E1-7FA34362DB91}"/>
                </a:ext>
              </a:extLst>
            </p:cNvPr>
            <p:cNvSpPr/>
            <p:nvPr/>
          </p:nvSpPr>
          <p:spPr>
            <a:xfrm>
              <a:off x="2435363" y="527997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A94AB8-3167-4D35-B7D2-1816DC699360}"/>
                </a:ext>
              </a:extLst>
            </p:cNvPr>
            <p:cNvSpPr/>
            <p:nvPr/>
          </p:nvSpPr>
          <p:spPr>
            <a:xfrm>
              <a:off x="2675020" y="527997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F31D456-203E-4B94-9ED4-FF413B5DDDFE}"/>
                </a:ext>
              </a:extLst>
            </p:cNvPr>
            <p:cNvCxnSpPr>
              <a:cxnSpLocks/>
            </p:cNvCxnSpPr>
            <p:nvPr/>
          </p:nvCxnSpPr>
          <p:spPr>
            <a:xfrm>
              <a:off x="2435363" y="523582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32E8026-3193-4B35-9E1E-E9011396FA62}"/>
                </a:ext>
              </a:extLst>
            </p:cNvPr>
            <p:cNvSpPr/>
            <p:nvPr/>
          </p:nvSpPr>
          <p:spPr>
            <a:xfrm>
              <a:off x="3010916" y="5075379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92DF339-58E4-4538-B6C7-BEB4E400FB5F}"/>
                </a:ext>
              </a:extLst>
            </p:cNvPr>
            <p:cNvSpPr/>
            <p:nvPr/>
          </p:nvSpPr>
          <p:spPr>
            <a:xfrm>
              <a:off x="3009991" y="5279976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9210F7-C36B-48BD-9F25-A9958C0EBB7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704" y="5238343"/>
              <a:ext cx="15500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BF9C6A8-8B97-4220-85D0-26ECA6622FA9}"/>
                </a:ext>
              </a:extLst>
            </p:cNvPr>
            <p:cNvSpPr/>
            <p:nvPr/>
          </p:nvSpPr>
          <p:spPr>
            <a:xfrm>
              <a:off x="3499167" y="5087105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E7CE397-9363-486D-A3DA-CAC8C7B8583C}"/>
                </a:ext>
              </a:extLst>
            </p:cNvPr>
            <p:cNvSpPr/>
            <p:nvPr/>
          </p:nvSpPr>
          <p:spPr>
            <a:xfrm>
              <a:off x="3386576" y="529422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878E54-6A30-4109-AFB4-FA1A88F0244E}"/>
                </a:ext>
              </a:extLst>
            </p:cNvPr>
            <p:cNvSpPr/>
            <p:nvPr/>
          </p:nvSpPr>
          <p:spPr>
            <a:xfrm>
              <a:off x="3626233" y="529422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4F50D83-1F73-43AC-84A4-DFA309868F69}"/>
                </a:ext>
              </a:extLst>
            </p:cNvPr>
            <p:cNvCxnSpPr>
              <a:cxnSpLocks/>
            </p:cNvCxnSpPr>
            <p:nvPr/>
          </p:nvCxnSpPr>
          <p:spPr>
            <a:xfrm>
              <a:off x="3386576" y="525007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/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91687B7-9EC7-46C7-B489-95F113D9CC53}"/>
              </a:ext>
            </a:extLst>
          </p:cNvPr>
          <p:cNvGrpSpPr/>
          <p:nvPr/>
        </p:nvGrpSpPr>
        <p:grpSpPr>
          <a:xfrm>
            <a:off x="5052377" y="4729092"/>
            <a:ext cx="1399066" cy="695260"/>
            <a:chOff x="4989864" y="278529"/>
            <a:chExt cx="1399066" cy="69526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0DF6355-0475-4A38-9DCA-587763DB3C84}"/>
                </a:ext>
              </a:extLst>
            </p:cNvPr>
            <p:cNvCxnSpPr>
              <a:cxnSpLocks/>
            </p:cNvCxnSpPr>
            <p:nvPr/>
          </p:nvCxnSpPr>
          <p:spPr>
            <a:xfrm>
              <a:off x="5188085" y="633243"/>
              <a:ext cx="249967" cy="34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A6BE4AA-2CD9-4D1C-A75E-CA251BB04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4210" y="583476"/>
              <a:ext cx="71459" cy="3819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75BEE8-DCBE-436F-8AB2-A12427DF8741}"/>
                </a:ext>
              </a:extLst>
            </p:cNvPr>
            <p:cNvSpPr txBox="1"/>
            <p:nvPr/>
          </p:nvSpPr>
          <p:spPr>
            <a:xfrm>
              <a:off x="4989864" y="32634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A1D945-AE4A-4944-9072-A909A02190F1}"/>
                </a:ext>
              </a:extLst>
            </p:cNvPr>
            <p:cNvSpPr txBox="1"/>
            <p:nvPr/>
          </p:nvSpPr>
          <p:spPr>
            <a:xfrm>
              <a:off x="6079230" y="278529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0E0B026-37E1-4850-B0AE-331AC09415ED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587275-841C-47D9-94DC-A0A45586184C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635573-268D-49B3-9708-D5CEECDA8010}"/>
              </a:ext>
            </a:extLst>
          </p:cNvPr>
          <p:cNvSpPr txBox="1"/>
          <p:nvPr/>
        </p:nvSpPr>
        <p:spPr>
          <a:xfrm>
            <a:off x="362079" y="116614"/>
            <a:ext cx="5821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Rate of being a Green Square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00F3BF-5E8E-4F89-9AE6-29F932C52185}"/>
              </a:ext>
            </a:extLst>
          </p:cNvPr>
          <p:cNvSpPr txBox="1"/>
          <p:nvPr/>
        </p:nvSpPr>
        <p:spPr>
          <a:xfrm>
            <a:off x="948190" y="6140897"/>
            <a:ext cx="998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squares x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192980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110FE5-8382-4675-8C74-B2B85D637DA9}"/>
              </a:ext>
            </a:extLst>
          </p:cNvPr>
          <p:cNvGrpSpPr/>
          <p:nvPr/>
        </p:nvGrpSpPr>
        <p:grpSpPr>
          <a:xfrm>
            <a:off x="2201850" y="2118049"/>
            <a:ext cx="2199316" cy="2199316"/>
            <a:chOff x="2701385" y="1632787"/>
            <a:chExt cx="2199316" cy="219931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477CEE-C2CF-45F1-9818-E5F47373BB96}"/>
                </a:ext>
              </a:extLst>
            </p:cNvPr>
            <p:cNvSpPr/>
            <p:nvPr/>
          </p:nvSpPr>
          <p:spPr>
            <a:xfrm>
              <a:off x="2701385" y="1632787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0290DB-DD1D-4FF9-832E-61DB4B6E1E92}"/>
                </a:ext>
              </a:extLst>
            </p:cNvPr>
            <p:cNvSpPr/>
            <p:nvPr/>
          </p:nvSpPr>
          <p:spPr>
            <a:xfrm>
              <a:off x="3994838" y="2436386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4021D49-7B79-49DE-BAC4-8B4CC1FB15D1}"/>
                </a:ext>
              </a:extLst>
            </p:cNvPr>
            <p:cNvSpPr/>
            <p:nvPr/>
          </p:nvSpPr>
          <p:spPr>
            <a:xfrm>
              <a:off x="4585744" y="2593181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E7AA0DFF-2099-48D6-AB64-C6C9A2A1C5C5}"/>
                </a:ext>
              </a:extLst>
            </p:cNvPr>
            <p:cNvSpPr/>
            <p:nvPr/>
          </p:nvSpPr>
          <p:spPr>
            <a:xfrm>
              <a:off x="4357370" y="330622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1F092B-AECA-4126-B660-ACC75832FC70}"/>
                </a:ext>
              </a:extLst>
            </p:cNvPr>
            <p:cNvSpPr/>
            <p:nvPr/>
          </p:nvSpPr>
          <p:spPr>
            <a:xfrm>
              <a:off x="3249651" y="3277441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01B058-D2E6-4BC6-A117-CC0219B851B6}"/>
                </a:ext>
              </a:extLst>
            </p:cNvPr>
            <p:cNvSpPr/>
            <p:nvPr/>
          </p:nvSpPr>
          <p:spPr>
            <a:xfrm>
              <a:off x="3783139" y="2835311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A5763EAE-0664-4D64-BE41-4CADF07FF56B}"/>
                </a:ext>
              </a:extLst>
            </p:cNvPr>
            <p:cNvSpPr/>
            <p:nvPr/>
          </p:nvSpPr>
          <p:spPr>
            <a:xfrm>
              <a:off x="2977103" y="2470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EB63CEF-1DBA-4008-B392-FE6ADD1B0359}"/>
                </a:ext>
              </a:extLst>
            </p:cNvPr>
            <p:cNvSpPr/>
            <p:nvPr/>
          </p:nvSpPr>
          <p:spPr>
            <a:xfrm>
              <a:off x="3657241" y="2195156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C4AA18-8EFD-4A00-9643-FB4AAA65FFDA}"/>
                </a:ext>
              </a:extLst>
            </p:cNvPr>
            <p:cNvSpPr/>
            <p:nvPr/>
          </p:nvSpPr>
          <p:spPr>
            <a:xfrm>
              <a:off x="4265390" y="1952447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5C15217-3ED3-4CF8-A314-6825E4FF1460}"/>
                </a:ext>
              </a:extLst>
            </p:cNvPr>
            <p:cNvSpPr/>
            <p:nvPr/>
          </p:nvSpPr>
          <p:spPr>
            <a:xfrm>
              <a:off x="3498704" y="349872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D8F81B-6DD3-4766-B8F3-7AED22B333AC}"/>
                </a:ext>
              </a:extLst>
            </p:cNvPr>
            <p:cNvSpPr/>
            <p:nvPr/>
          </p:nvSpPr>
          <p:spPr>
            <a:xfrm>
              <a:off x="3295604" y="226336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0DC759D-315E-4014-84CC-F4DEFA65AD49}"/>
                </a:ext>
              </a:extLst>
            </p:cNvPr>
            <p:cNvSpPr/>
            <p:nvPr/>
          </p:nvSpPr>
          <p:spPr>
            <a:xfrm>
              <a:off x="3506366" y="1851152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AA8358-5F37-45AF-9173-156CE6FE1212}"/>
                </a:ext>
              </a:extLst>
            </p:cNvPr>
            <p:cNvSpPr/>
            <p:nvPr/>
          </p:nvSpPr>
          <p:spPr>
            <a:xfrm>
              <a:off x="3466143" y="307270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AFE778-6557-43F0-8D3E-B6A77798E0AC}"/>
                </a:ext>
              </a:extLst>
            </p:cNvPr>
            <p:cNvSpPr/>
            <p:nvPr/>
          </p:nvSpPr>
          <p:spPr>
            <a:xfrm>
              <a:off x="4256075" y="2985404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3F509A6-DDC0-4494-A1D2-D6D920571259}"/>
                </a:ext>
              </a:extLst>
            </p:cNvPr>
            <p:cNvSpPr/>
            <p:nvPr/>
          </p:nvSpPr>
          <p:spPr>
            <a:xfrm>
              <a:off x="3758464" y="2519491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7980EA-7DD6-406B-ADC0-70305BF1FF6E}"/>
                </a:ext>
              </a:extLst>
            </p:cNvPr>
            <p:cNvSpPr/>
            <p:nvPr/>
          </p:nvSpPr>
          <p:spPr>
            <a:xfrm>
              <a:off x="4357370" y="2282455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209A4CD-5924-403B-839A-185D27CD588A}"/>
                </a:ext>
              </a:extLst>
            </p:cNvPr>
            <p:cNvSpPr/>
            <p:nvPr/>
          </p:nvSpPr>
          <p:spPr>
            <a:xfrm>
              <a:off x="3426802" y="2540274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ED5859-E1D7-4E8F-AB57-151C6FDE9BE2}"/>
                </a:ext>
              </a:extLst>
            </p:cNvPr>
            <p:cNvSpPr/>
            <p:nvPr/>
          </p:nvSpPr>
          <p:spPr>
            <a:xfrm>
              <a:off x="3730020" y="3416934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4AECBBA-7CCB-44C9-95AF-086AB3C2540D}"/>
                </a:ext>
              </a:extLst>
            </p:cNvPr>
            <p:cNvSpPr/>
            <p:nvPr/>
          </p:nvSpPr>
          <p:spPr>
            <a:xfrm>
              <a:off x="4233304" y="2653298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C50AC78-1B50-48B9-806B-5B67C7E077DB}"/>
                </a:ext>
              </a:extLst>
            </p:cNvPr>
            <p:cNvSpPr/>
            <p:nvPr/>
          </p:nvSpPr>
          <p:spPr>
            <a:xfrm>
              <a:off x="3955089" y="1969368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00F4649-4DB6-4ABF-9422-9CB087076399}"/>
                </a:ext>
              </a:extLst>
            </p:cNvPr>
            <p:cNvSpPr/>
            <p:nvPr/>
          </p:nvSpPr>
          <p:spPr>
            <a:xfrm>
              <a:off x="3989711" y="3202361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F493904-F593-4B1B-9E8E-0913CCD32BC9}"/>
                </a:ext>
              </a:extLst>
            </p:cNvPr>
            <p:cNvSpPr/>
            <p:nvPr/>
          </p:nvSpPr>
          <p:spPr>
            <a:xfrm>
              <a:off x="3087728" y="2941846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FA1E3DA-A6F4-4E76-AFEB-E9CBE411FACE}"/>
                </a:ext>
              </a:extLst>
            </p:cNvPr>
            <p:cNvSpPr/>
            <p:nvPr/>
          </p:nvSpPr>
          <p:spPr>
            <a:xfrm>
              <a:off x="3348134" y="2795790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672A50-E43F-4650-8337-426603677B4C}"/>
                </a:ext>
              </a:extLst>
            </p:cNvPr>
            <p:cNvSpPr/>
            <p:nvPr/>
          </p:nvSpPr>
          <p:spPr>
            <a:xfrm>
              <a:off x="3078369" y="1984875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8EB8AC-4B28-45E7-906C-C9DF73D556CE}"/>
                </a:ext>
              </a:extLst>
            </p:cNvPr>
            <p:cNvSpPr/>
            <p:nvPr/>
          </p:nvSpPr>
          <p:spPr>
            <a:xfrm>
              <a:off x="4521216" y="2992486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115D4F-7878-4096-99D2-BAE17A535EC9}"/>
              </a:ext>
            </a:extLst>
          </p:cNvPr>
          <p:cNvGrpSpPr/>
          <p:nvPr/>
        </p:nvGrpSpPr>
        <p:grpSpPr>
          <a:xfrm>
            <a:off x="7790836" y="2181394"/>
            <a:ext cx="2199316" cy="2199316"/>
            <a:chOff x="7729381" y="1475079"/>
            <a:chExt cx="2199316" cy="219931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BF1B5F-26CB-4C22-A8A3-690A426642EF}"/>
                </a:ext>
              </a:extLst>
            </p:cNvPr>
            <p:cNvSpPr/>
            <p:nvPr/>
          </p:nvSpPr>
          <p:spPr>
            <a:xfrm>
              <a:off x="7729381" y="1475079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9641DFE-30C9-419F-B6BC-C09E6A4CA2B4}"/>
                </a:ext>
              </a:extLst>
            </p:cNvPr>
            <p:cNvSpPr/>
            <p:nvPr/>
          </p:nvSpPr>
          <p:spPr>
            <a:xfrm>
              <a:off x="9172444" y="1732202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22EBAAB-3422-4602-A61B-958F5F4CE5FD}"/>
                </a:ext>
              </a:extLst>
            </p:cNvPr>
            <p:cNvSpPr/>
            <p:nvPr/>
          </p:nvSpPr>
          <p:spPr>
            <a:xfrm>
              <a:off x="8787240" y="1747173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BAD5DB0-1CCE-4DD5-A6B8-1E3E876A8386}"/>
                </a:ext>
              </a:extLst>
            </p:cNvPr>
            <p:cNvSpPr/>
            <p:nvPr/>
          </p:nvSpPr>
          <p:spPr>
            <a:xfrm>
              <a:off x="9535662" y="2487439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C05EF8A-8073-4A1D-A073-46018BC2CBED}"/>
                </a:ext>
              </a:extLst>
            </p:cNvPr>
            <p:cNvSpPr/>
            <p:nvPr/>
          </p:nvSpPr>
          <p:spPr>
            <a:xfrm>
              <a:off x="9406493" y="2802168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E166423-9855-42A5-A331-953A9E48A8DE}"/>
                </a:ext>
              </a:extLst>
            </p:cNvPr>
            <p:cNvSpPr/>
            <p:nvPr/>
          </p:nvSpPr>
          <p:spPr>
            <a:xfrm>
              <a:off x="9224366" y="3190142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60EBA6A-C36C-4778-8885-8A2AD6CA3628}"/>
                </a:ext>
              </a:extLst>
            </p:cNvPr>
            <p:cNvSpPr/>
            <p:nvPr/>
          </p:nvSpPr>
          <p:spPr>
            <a:xfrm>
              <a:off x="8986839" y="2238645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D0D90B5-50B2-4778-B090-B1C376FC39DA}"/>
                </a:ext>
              </a:extLst>
            </p:cNvPr>
            <p:cNvSpPr/>
            <p:nvPr/>
          </p:nvSpPr>
          <p:spPr>
            <a:xfrm>
              <a:off x="9343203" y="2126304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846605-F14F-41C5-81FC-A4EA44DD1909}"/>
                </a:ext>
              </a:extLst>
            </p:cNvPr>
            <p:cNvSpPr/>
            <p:nvPr/>
          </p:nvSpPr>
          <p:spPr>
            <a:xfrm>
              <a:off x="8506638" y="3072702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44FAFB2-7FA5-45F5-BC10-FF0CA6F9BBEB}"/>
                </a:ext>
              </a:extLst>
            </p:cNvPr>
            <p:cNvSpPr/>
            <p:nvPr/>
          </p:nvSpPr>
          <p:spPr>
            <a:xfrm>
              <a:off x="8229447" y="179477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5A93BEF-29AA-4D92-9CF2-EE77480F4660}"/>
                </a:ext>
              </a:extLst>
            </p:cNvPr>
            <p:cNvSpPr/>
            <p:nvPr/>
          </p:nvSpPr>
          <p:spPr>
            <a:xfrm>
              <a:off x="8699941" y="2065980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66BA277-58F6-44CD-A163-7F27B70F5FE6}"/>
                </a:ext>
              </a:extLst>
            </p:cNvPr>
            <p:cNvSpPr/>
            <p:nvPr/>
          </p:nvSpPr>
          <p:spPr>
            <a:xfrm>
              <a:off x="8493703" y="1684288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9EEA8976-86CB-4B82-9615-D4943E8F14AD}"/>
                </a:ext>
              </a:extLst>
            </p:cNvPr>
            <p:cNvSpPr/>
            <p:nvPr/>
          </p:nvSpPr>
          <p:spPr>
            <a:xfrm>
              <a:off x="9021834" y="287684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3DC83E1-57B0-4DB2-BE29-BBF8B5CD0507}"/>
                </a:ext>
              </a:extLst>
            </p:cNvPr>
            <p:cNvSpPr/>
            <p:nvPr/>
          </p:nvSpPr>
          <p:spPr>
            <a:xfrm>
              <a:off x="8419340" y="2039006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706A27F-0FE1-403A-A329-FA757EEEC8AA}"/>
                </a:ext>
              </a:extLst>
            </p:cNvPr>
            <p:cNvSpPr/>
            <p:nvPr/>
          </p:nvSpPr>
          <p:spPr>
            <a:xfrm>
              <a:off x="8442140" y="2334846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745AA1D0-B8C7-452D-9472-56FFA2C74D52}"/>
                </a:ext>
              </a:extLst>
            </p:cNvPr>
            <p:cNvSpPr/>
            <p:nvPr/>
          </p:nvSpPr>
          <p:spPr>
            <a:xfrm>
              <a:off x="8096091" y="21078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A9EC15C-3D26-4DE3-BB37-6608967C2F5D}"/>
                </a:ext>
              </a:extLst>
            </p:cNvPr>
            <p:cNvSpPr/>
            <p:nvPr/>
          </p:nvSpPr>
          <p:spPr>
            <a:xfrm>
              <a:off x="7934970" y="243219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C3F094F-78AD-4FB4-BB16-A083688D831E}"/>
                </a:ext>
              </a:extLst>
            </p:cNvPr>
            <p:cNvSpPr/>
            <p:nvPr/>
          </p:nvSpPr>
          <p:spPr>
            <a:xfrm>
              <a:off x="8654442" y="2763715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ED758C87-07E0-40A6-BF19-391378B0A911}"/>
                </a:ext>
              </a:extLst>
            </p:cNvPr>
            <p:cNvSpPr/>
            <p:nvPr/>
          </p:nvSpPr>
          <p:spPr>
            <a:xfrm>
              <a:off x="8067251" y="2941846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BC4955D-5406-4C9B-9514-EF344292489C}"/>
                </a:ext>
              </a:extLst>
            </p:cNvPr>
            <p:cNvSpPr/>
            <p:nvPr/>
          </p:nvSpPr>
          <p:spPr>
            <a:xfrm>
              <a:off x="8320742" y="2694088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87E18A4-3394-4F2A-8438-B320C7695394}"/>
                </a:ext>
              </a:extLst>
            </p:cNvPr>
            <p:cNvSpPr/>
            <p:nvPr/>
          </p:nvSpPr>
          <p:spPr>
            <a:xfrm>
              <a:off x="9082555" y="1980255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7DAB2034-B23E-4052-80C1-ECD39A66EAAB}"/>
                </a:ext>
              </a:extLst>
            </p:cNvPr>
            <p:cNvSpPr/>
            <p:nvPr/>
          </p:nvSpPr>
          <p:spPr>
            <a:xfrm>
              <a:off x="8720894" y="2383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4F7B07B3-957D-4521-9A3D-3F8BD000C55F}"/>
                </a:ext>
              </a:extLst>
            </p:cNvPr>
            <p:cNvSpPr/>
            <p:nvPr/>
          </p:nvSpPr>
          <p:spPr>
            <a:xfrm>
              <a:off x="9088105" y="250896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3B8DC998-E25D-45DD-8D29-DA6EB228E0F1}"/>
                </a:ext>
              </a:extLst>
            </p:cNvPr>
            <p:cNvSpPr/>
            <p:nvPr/>
          </p:nvSpPr>
          <p:spPr>
            <a:xfrm>
              <a:off x="7888015" y="2714870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5203079-26F3-4244-9436-CA6832FBDFDB}"/>
                </a:ext>
              </a:extLst>
            </p:cNvPr>
            <p:cNvSpPr/>
            <p:nvPr/>
          </p:nvSpPr>
          <p:spPr>
            <a:xfrm>
              <a:off x="8718036" y="3324126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595A51D7-4CA9-41A6-A92D-312500B57F58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A98C40-6ADA-45B2-A252-DAF75E0330F3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E5CF10-EAFD-4377-A941-5FCBEC38F481}"/>
              </a:ext>
            </a:extLst>
          </p:cNvPr>
          <p:cNvGrpSpPr/>
          <p:nvPr/>
        </p:nvGrpSpPr>
        <p:grpSpPr>
          <a:xfrm>
            <a:off x="5720112" y="4117739"/>
            <a:ext cx="751775" cy="524935"/>
            <a:chOff x="5431627" y="3371522"/>
            <a:chExt cx="751775" cy="524935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FA7970F-03F0-4EC2-9269-2F7EBD9B2E5E}"/>
                </a:ext>
              </a:extLst>
            </p:cNvPr>
            <p:cNvSpPr txBox="1"/>
            <p:nvPr/>
          </p:nvSpPr>
          <p:spPr>
            <a:xfrm>
              <a:off x="5531400" y="3619458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50C8B27-B66B-47F0-9C6C-1E7815719B30}"/>
                </a:ext>
              </a:extLst>
            </p:cNvPr>
            <p:cNvSpPr/>
            <p:nvPr/>
          </p:nvSpPr>
          <p:spPr>
            <a:xfrm>
              <a:off x="5431627" y="3676346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8982E41-3D83-4753-97EB-5299DF545700}"/>
                </a:ext>
              </a:extLst>
            </p:cNvPr>
            <p:cNvSpPr/>
            <p:nvPr/>
          </p:nvSpPr>
          <p:spPr>
            <a:xfrm>
              <a:off x="5972506" y="3681875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Isosceles Triangle 115">
              <a:extLst>
                <a:ext uri="{FF2B5EF4-FFF2-40B4-BE49-F238E27FC236}">
                  <a16:creationId xmlns:a16="http://schemas.microsoft.com/office/drawing/2014/main" id="{6C6517AD-075F-4F09-9A07-A1CD4ECA875E}"/>
                </a:ext>
              </a:extLst>
            </p:cNvPr>
            <p:cNvSpPr/>
            <p:nvPr/>
          </p:nvSpPr>
          <p:spPr>
            <a:xfrm>
              <a:off x="5686437" y="3673246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56754D5-8B4A-488C-A28F-9195F8BD9164}"/>
                </a:ext>
              </a:extLst>
            </p:cNvPr>
            <p:cNvCxnSpPr>
              <a:cxnSpLocks/>
            </p:cNvCxnSpPr>
            <p:nvPr/>
          </p:nvCxnSpPr>
          <p:spPr>
            <a:xfrm>
              <a:off x="5434489" y="3649841"/>
              <a:ext cx="7489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A995331-80C9-4AE1-96E1-71A04FD00556}"/>
                </a:ext>
              </a:extLst>
            </p:cNvPr>
            <p:cNvSpPr txBox="1"/>
            <p:nvPr/>
          </p:nvSpPr>
          <p:spPr>
            <a:xfrm>
              <a:off x="5533672" y="3371522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3FAD2D6-A34F-446B-AFBF-E2054A9570F2}"/>
                </a:ext>
              </a:extLst>
            </p:cNvPr>
            <p:cNvSpPr/>
            <p:nvPr/>
          </p:nvSpPr>
          <p:spPr>
            <a:xfrm>
              <a:off x="5433899" y="3428410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D3A9277-81EA-4CEA-BDDA-73C7B2D0E5AC}"/>
                </a:ext>
              </a:extLst>
            </p:cNvPr>
            <p:cNvSpPr/>
            <p:nvPr/>
          </p:nvSpPr>
          <p:spPr>
            <a:xfrm>
              <a:off x="5974778" y="3433939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5" name="Isosceles Triangle 124">
              <a:extLst>
                <a:ext uri="{FF2B5EF4-FFF2-40B4-BE49-F238E27FC236}">
                  <a16:creationId xmlns:a16="http://schemas.microsoft.com/office/drawing/2014/main" id="{2B273CDA-185A-466D-8F13-428CD0693E81}"/>
                </a:ext>
              </a:extLst>
            </p:cNvPr>
            <p:cNvSpPr/>
            <p:nvPr/>
          </p:nvSpPr>
          <p:spPr>
            <a:xfrm>
              <a:off x="5688709" y="342531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4B7C762F-B0AC-4A91-A2F3-D3EA9423C87C}"/>
              </a:ext>
            </a:extLst>
          </p:cNvPr>
          <p:cNvGrpSpPr/>
          <p:nvPr/>
        </p:nvGrpSpPr>
        <p:grpSpPr>
          <a:xfrm>
            <a:off x="2502888" y="4411124"/>
            <a:ext cx="1663813" cy="923330"/>
            <a:chOff x="2601577" y="4247292"/>
            <a:chExt cx="1663813" cy="92333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139296C-3E24-433F-809D-0AD4E3ED3EFB}"/>
                </a:ext>
              </a:extLst>
            </p:cNvPr>
            <p:cNvSpPr txBox="1"/>
            <p:nvPr/>
          </p:nvSpPr>
          <p:spPr>
            <a:xfrm>
              <a:off x="2601577" y="4247292"/>
              <a:ext cx="1663813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2         	8</a:t>
              </a:r>
            </a:p>
            <a:p>
              <a:r>
                <a:rPr lang="en-GB" dirty="0"/>
                <a:t>3	7</a:t>
              </a:r>
            </a:p>
            <a:p>
              <a:r>
                <a:rPr lang="en-GB" dirty="0"/>
                <a:t>3	1</a:t>
              </a:r>
            </a:p>
          </p:txBody>
        </p:sp>
        <p:sp>
          <p:nvSpPr>
            <p:cNvPr id="192" name="Isosceles Triangle 191">
              <a:extLst>
                <a:ext uri="{FF2B5EF4-FFF2-40B4-BE49-F238E27FC236}">
                  <a16:creationId xmlns:a16="http://schemas.microsoft.com/office/drawing/2014/main" id="{87632309-678A-49A6-AF39-93E1F310D5CC}"/>
                </a:ext>
              </a:extLst>
            </p:cNvPr>
            <p:cNvSpPr/>
            <p:nvPr/>
          </p:nvSpPr>
          <p:spPr>
            <a:xfrm>
              <a:off x="2832282" y="48986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620B993-ADBF-4C1E-A617-9554B1C10F46}"/>
                </a:ext>
              </a:extLst>
            </p:cNvPr>
            <p:cNvSpPr/>
            <p:nvPr/>
          </p:nvSpPr>
          <p:spPr>
            <a:xfrm>
              <a:off x="2846250" y="4633140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51A4E23D-D3EE-4DF6-ADF5-496AE440CE6B}"/>
                </a:ext>
              </a:extLst>
            </p:cNvPr>
            <p:cNvSpPr/>
            <p:nvPr/>
          </p:nvSpPr>
          <p:spPr>
            <a:xfrm>
              <a:off x="2849748" y="4356737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95" name="Isosceles Triangle 194">
              <a:extLst>
                <a:ext uri="{FF2B5EF4-FFF2-40B4-BE49-F238E27FC236}">
                  <a16:creationId xmlns:a16="http://schemas.microsoft.com/office/drawing/2014/main" id="{1BD42E59-6476-4FAF-A6AC-CE70A55C07F4}"/>
                </a:ext>
              </a:extLst>
            </p:cNvPr>
            <p:cNvSpPr/>
            <p:nvPr/>
          </p:nvSpPr>
          <p:spPr>
            <a:xfrm>
              <a:off x="3768555" y="4907399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692AC01-AB9E-4651-AF81-49E3878AE23A}"/>
                </a:ext>
              </a:extLst>
            </p:cNvPr>
            <p:cNvSpPr/>
            <p:nvPr/>
          </p:nvSpPr>
          <p:spPr>
            <a:xfrm>
              <a:off x="3782523" y="464188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D5CA1F17-D2C4-4D71-8FAB-A1E53E56D9FF}"/>
                </a:ext>
              </a:extLst>
            </p:cNvPr>
            <p:cNvSpPr/>
            <p:nvPr/>
          </p:nvSpPr>
          <p:spPr>
            <a:xfrm>
              <a:off x="3786021" y="4365479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3A8E379E-40E8-41C5-BFB2-2C67ABE22486}"/>
              </a:ext>
            </a:extLst>
          </p:cNvPr>
          <p:cNvGrpSpPr/>
          <p:nvPr/>
        </p:nvGrpSpPr>
        <p:grpSpPr>
          <a:xfrm>
            <a:off x="8201533" y="4426438"/>
            <a:ext cx="1663813" cy="923330"/>
            <a:chOff x="2601577" y="4247292"/>
            <a:chExt cx="1663813" cy="923330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CC633D0-7E11-4A35-8C2C-3DC0F66471A9}"/>
                </a:ext>
              </a:extLst>
            </p:cNvPr>
            <p:cNvSpPr txBox="1"/>
            <p:nvPr/>
          </p:nvSpPr>
          <p:spPr>
            <a:xfrm>
              <a:off x="2601577" y="4247292"/>
              <a:ext cx="1663813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2         	5</a:t>
              </a:r>
            </a:p>
            <a:p>
              <a:r>
                <a:rPr lang="en-GB" dirty="0"/>
                <a:t>4	3</a:t>
              </a:r>
            </a:p>
            <a:p>
              <a:r>
                <a:rPr lang="en-GB" dirty="0"/>
                <a:t>7	3</a:t>
              </a:r>
            </a:p>
          </p:txBody>
        </p:sp>
        <p:sp>
          <p:nvSpPr>
            <p:cNvPr id="200" name="Isosceles Triangle 199">
              <a:extLst>
                <a:ext uri="{FF2B5EF4-FFF2-40B4-BE49-F238E27FC236}">
                  <a16:creationId xmlns:a16="http://schemas.microsoft.com/office/drawing/2014/main" id="{8D272A0C-D81F-4796-99BC-5BBF618E4E3E}"/>
                </a:ext>
              </a:extLst>
            </p:cNvPr>
            <p:cNvSpPr/>
            <p:nvPr/>
          </p:nvSpPr>
          <p:spPr>
            <a:xfrm>
              <a:off x="2832282" y="48986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8E3DEEFC-97B6-4368-8E96-E351AF0CBC68}"/>
                </a:ext>
              </a:extLst>
            </p:cNvPr>
            <p:cNvSpPr/>
            <p:nvPr/>
          </p:nvSpPr>
          <p:spPr>
            <a:xfrm>
              <a:off x="2846250" y="4633140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9BCFF69-8C81-4AE5-B753-366C9A47FEB5}"/>
                </a:ext>
              </a:extLst>
            </p:cNvPr>
            <p:cNvSpPr/>
            <p:nvPr/>
          </p:nvSpPr>
          <p:spPr>
            <a:xfrm>
              <a:off x="2849748" y="4356737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E34D1E8B-5C59-4CB9-AC1F-7E242A4BCD33}"/>
                </a:ext>
              </a:extLst>
            </p:cNvPr>
            <p:cNvSpPr/>
            <p:nvPr/>
          </p:nvSpPr>
          <p:spPr>
            <a:xfrm>
              <a:off x="3768555" y="4907399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2AD4F17-FE65-4432-BDD2-2FCDDB6238CF}"/>
                </a:ext>
              </a:extLst>
            </p:cNvPr>
            <p:cNvSpPr/>
            <p:nvPr/>
          </p:nvSpPr>
          <p:spPr>
            <a:xfrm>
              <a:off x="3782523" y="464188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64D9055-960C-42B1-B9D8-161BCA6C44EB}"/>
                </a:ext>
              </a:extLst>
            </p:cNvPr>
            <p:cNvSpPr/>
            <p:nvPr/>
          </p:nvSpPr>
          <p:spPr>
            <a:xfrm>
              <a:off x="3786021" y="4365479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94B5AE-1E04-410B-A69D-1E02BF65B738}"/>
              </a:ext>
            </a:extLst>
          </p:cNvPr>
          <p:cNvCxnSpPr/>
          <p:nvPr/>
        </p:nvCxnSpPr>
        <p:spPr>
          <a:xfrm>
            <a:off x="2502888" y="5349768"/>
            <a:ext cx="15187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88FA74B-F037-4B57-9D24-EF74D2543B19}"/>
              </a:ext>
            </a:extLst>
          </p:cNvPr>
          <p:cNvSpPr txBox="1"/>
          <p:nvPr/>
        </p:nvSpPr>
        <p:spPr>
          <a:xfrm>
            <a:off x="2506353" y="5349768"/>
            <a:ext cx="2199316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8         	16</a:t>
            </a:r>
          </a:p>
          <a:p>
            <a:br>
              <a:rPr lang="en-GB" dirty="0"/>
            </a:br>
            <a:r>
              <a:rPr lang="en-GB" dirty="0"/>
              <a:t>Rate = 8/24 = 0.33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687C63F-BBD5-4EC7-86DC-5414E14B6643}"/>
              </a:ext>
            </a:extLst>
          </p:cNvPr>
          <p:cNvCxnSpPr/>
          <p:nvPr/>
        </p:nvCxnSpPr>
        <p:spPr>
          <a:xfrm>
            <a:off x="8190451" y="5330373"/>
            <a:ext cx="15187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2A19571-7EBE-40A9-A0D3-A2E54893569B}"/>
              </a:ext>
            </a:extLst>
          </p:cNvPr>
          <p:cNvSpPr txBox="1"/>
          <p:nvPr/>
        </p:nvSpPr>
        <p:spPr>
          <a:xfrm>
            <a:off x="8201533" y="5335878"/>
            <a:ext cx="252133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/>
              <a:t>13         	11</a:t>
            </a:r>
          </a:p>
          <a:p>
            <a:endParaRPr lang="en-GB" dirty="0"/>
          </a:p>
          <a:p>
            <a:r>
              <a:rPr lang="en-GB" dirty="0"/>
              <a:t>Rate = 13/24 = 0.54</a:t>
            </a:r>
          </a:p>
          <a:p>
            <a:endParaRPr lang="en-GB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C5DFA2-7CF5-45CA-BE48-3EFBF7B29D88}"/>
              </a:ext>
            </a:extLst>
          </p:cNvPr>
          <p:cNvSpPr txBox="1"/>
          <p:nvPr/>
        </p:nvSpPr>
        <p:spPr>
          <a:xfrm>
            <a:off x="362079" y="116614"/>
            <a:ext cx="40477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Rate of being Green</a:t>
            </a:r>
          </a:p>
        </p:txBody>
      </p:sp>
    </p:spTree>
    <p:extLst>
      <p:ext uri="{BB962C8B-B14F-4D97-AF65-F5344CB8AC3E}">
        <p14:creationId xmlns:p14="http://schemas.microsoft.com/office/powerpoint/2010/main" val="2168690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E9788F4-BB29-48BC-9046-D37362E9009D}"/>
              </a:ext>
            </a:extLst>
          </p:cNvPr>
          <p:cNvGrpSpPr/>
          <p:nvPr/>
        </p:nvGrpSpPr>
        <p:grpSpPr>
          <a:xfrm>
            <a:off x="2369700" y="2305771"/>
            <a:ext cx="1913467" cy="1913467"/>
            <a:chOff x="1683986" y="164675"/>
            <a:chExt cx="1913467" cy="1913467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DB8548-E94A-4913-82A0-3034359CD7F3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017965C-6999-4D08-A9A1-7D4E3A6DB038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DB0C8EC-CF29-445D-988D-B43B690115B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D6DE867-02E4-484C-8776-0CE80B376EA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EACEE7E-19F7-4F50-ADBA-573210379D70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DE5807B-97F8-4940-8E95-5B43A8D8BCF7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0F16044-BBDA-4350-AA96-3F3DDE1CA93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25B6969-7D2F-4462-8466-B3F501A34CE9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EDC650D-98AF-4E83-B988-288BC688D69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09BBFF8-4E9A-420D-BCF5-B422A3B7E3ED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593E36E-FF7E-48FA-98C6-DBBAB2E2A8D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5E0100-EBF6-4EB7-A0E3-E4E7E9ECDB3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5E8167A-9284-4D0A-8C86-26FFDC4C69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44A946A-48EB-4707-BAB7-92EDCD67A41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1BFE539-A7E3-46FB-B0FC-6649C6A9061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175DAFF-9806-4D77-8205-76C4503AED6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BB2B62-7B14-44F6-8B2F-3AB494159ECF}"/>
              </a:ext>
            </a:extLst>
          </p:cNvPr>
          <p:cNvGrpSpPr/>
          <p:nvPr/>
        </p:nvGrpSpPr>
        <p:grpSpPr>
          <a:xfrm>
            <a:off x="7924733" y="2306202"/>
            <a:ext cx="1913467" cy="1913467"/>
            <a:chOff x="4273591" y="2277533"/>
            <a:chExt cx="1913467" cy="1913467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6D8A446-FE0E-4D3D-9994-E03402E28E54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36F2ABC-40FB-4320-ADAC-BBC0E9CE7A9B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8023EF8-2CF3-46EB-AD50-B4A3E1614602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F1BAE1C-622A-4E45-9C7F-03ACC7D52776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FB680B0-0B4B-4043-949B-6A6C5DEE2860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1E7EEA5-7F93-4A1F-9D31-47C1EB93D22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E733C33-6D24-46C3-A07C-6EEE365C16E4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0BF3D9-F009-44AD-9065-0D8DB71DB2F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10AC7D9-5C8E-4ACA-AC78-09A5FEE423D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E77521F-5055-49BE-8A13-CA504D99BADF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8E2D70-3193-4069-A80D-C143B850D559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0685B6A-CEC2-4AFF-B936-92BE98353C8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4F12F61-AC8D-427A-9577-CDBC3B6801BB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40BBA9A-42FC-4900-A3BE-B2FC14E81C3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BDCA865-D4CE-4053-BCAA-EB133B20A447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48F934D-885B-43A9-BDED-2700DE5DF444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/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0A1C1F6-B381-4679-8078-8D7BCD9F983E}"/>
              </a:ext>
            </a:extLst>
          </p:cNvPr>
          <p:cNvGrpSpPr/>
          <p:nvPr/>
        </p:nvGrpSpPr>
        <p:grpSpPr>
          <a:xfrm>
            <a:off x="5441373" y="5479441"/>
            <a:ext cx="1309254" cy="432769"/>
            <a:chOff x="2435363" y="5051154"/>
            <a:chExt cx="1309254" cy="43276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973E249-B002-46FC-940B-35537F6E5212}"/>
                </a:ext>
              </a:extLst>
            </p:cNvPr>
            <p:cNvSpPr txBox="1"/>
            <p:nvPr/>
          </p:nvSpPr>
          <p:spPr>
            <a:xfrm>
              <a:off x="3434791" y="520692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/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0ABFA6-F69F-44F7-AF41-A4FB54EDB867}"/>
                </a:ext>
              </a:extLst>
            </p:cNvPr>
            <p:cNvSpPr txBox="1"/>
            <p:nvPr/>
          </p:nvSpPr>
          <p:spPr>
            <a:xfrm>
              <a:off x="2483578" y="519267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B3B48D-92A9-4B43-936B-CE149DFB00DF}"/>
                </a:ext>
              </a:extLst>
            </p:cNvPr>
            <p:cNvSpPr/>
            <p:nvPr/>
          </p:nvSpPr>
          <p:spPr>
            <a:xfrm>
              <a:off x="2547954" y="507285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471ACBD-7682-4EEC-A7E1-7FA34362DB91}"/>
                </a:ext>
              </a:extLst>
            </p:cNvPr>
            <p:cNvSpPr/>
            <p:nvPr/>
          </p:nvSpPr>
          <p:spPr>
            <a:xfrm>
              <a:off x="2435363" y="527997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A94AB8-3167-4D35-B7D2-1816DC699360}"/>
                </a:ext>
              </a:extLst>
            </p:cNvPr>
            <p:cNvSpPr/>
            <p:nvPr/>
          </p:nvSpPr>
          <p:spPr>
            <a:xfrm>
              <a:off x="2675020" y="527997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F31D456-203E-4B94-9ED4-FF413B5DDDFE}"/>
                </a:ext>
              </a:extLst>
            </p:cNvPr>
            <p:cNvCxnSpPr>
              <a:cxnSpLocks/>
            </p:cNvCxnSpPr>
            <p:nvPr/>
          </p:nvCxnSpPr>
          <p:spPr>
            <a:xfrm>
              <a:off x="2435363" y="523582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32E8026-3193-4B35-9E1E-E9011396FA62}"/>
                </a:ext>
              </a:extLst>
            </p:cNvPr>
            <p:cNvSpPr/>
            <p:nvPr/>
          </p:nvSpPr>
          <p:spPr>
            <a:xfrm>
              <a:off x="3010916" y="5075379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92DF339-58E4-4538-B6C7-BEB4E400FB5F}"/>
                </a:ext>
              </a:extLst>
            </p:cNvPr>
            <p:cNvSpPr/>
            <p:nvPr/>
          </p:nvSpPr>
          <p:spPr>
            <a:xfrm>
              <a:off x="3009991" y="5279976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9210F7-C36B-48BD-9F25-A9958C0EBB7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704" y="5238343"/>
              <a:ext cx="15500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BF9C6A8-8B97-4220-85D0-26ECA6622FA9}"/>
                </a:ext>
              </a:extLst>
            </p:cNvPr>
            <p:cNvSpPr/>
            <p:nvPr/>
          </p:nvSpPr>
          <p:spPr>
            <a:xfrm>
              <a:off x="3499167" y="5087105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E7CE397-9363-486D-A3DA-CAC8C7B8583C}"/>
                </a:ext>
              </a:extLst>
            </p:cNvPr>
            <p:cNvSpPr/>
            <p:nvPr/>
          </p:nvSpPr>
          <p:spPr>
            <a:xfrm>
              <a:off x="3386576" y="529422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878E54-6A30-4109-AFB4-FA1A88F0244E}"/>
                </a:ext>
              </a:extLst>
            </p:cNvPr>
            <p:cNvSpPr/>
            <p:nvPr/>
          </p:nvSpPr>
          <p:spPr>
            <a:xfrm>
              <a:off x="3626233" y="529422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4F50D83-1F73-43AC-84A4-DFA309868F69}"/>
                </a:ext>
              </a:extLst>
            </p:cNvPr>
            <p:cNvCxnSpPr>
              <a:cxnSpLocks/>
            </p:cNvCxnSpPr>
            <p:nvPr/>
          </p:nvCxnSpPr>
          <p:spPr>
            <a:xfrm>
              <a:off x="3386576" y="525007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/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91687B7-9EC7-46C7-B489-95F113D9CC53}"/>
              </a:ext>
            </a:extLst>
          </p:cNvPr>
          <p:cNvGrpSpPr/>
          <p:nvPr/>
        </p:nvGrpSpPr>
        <p:grpSpPr>
          <a:xfrm>
            <a:off x="4537581" y="4030412"/>
            <a:ext cx="2791637" cy="1393940"/>
            <a:chOff x="4475068" y="-420151"/>
            <a:chExt cx="2791637" cy="139394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0DF6355-0475-4A38-9DCA-587763DB3C84}"/>
                </a:ext>
              </a:extLst>
            </p:cNvPr>
            <p:cNvCxnSpPr>
              <a:cxnSpLocks/>
            </p:cNvCxnSpPr>
            <p:nvPr/>
          </p:nvCxnSpPr>
          <p:spPr>
            <a:xfrm>
              <a:off x="5188085" y="633243"/>
              <a:ext cx="249967" cy="34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A6BE4AA-2CD9-4D1C-A75E-CA251BB04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4210" y="583476"/>
              <a:ext cx="71459" cy="3819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75BEE8-DCBE-436F-8AB2-A12427DF8741}"/>
                </a:ext>
              </a:extLst>
            </p:cNvPr>
            <p:cNvSpPr txBox="1"/>
            <p:nvPr/>
          </p:nvSpPr>
          <p:spPr>
            <a:xfrm>
              <a:off x="4475068" y="-358505"/>
              <a:ext cx="12618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Weight:</a:t>
              </a:r>
              <a:br>
                <a:rPr lang="en-GB" sz="1400" b="1" dirty="0"/>
              </a:br>
              <a:r>
                <a:rPr lang="en-GB" sz="1400" dirty="0"/>
                <a:t>Proportion of population</a:t>
              </a:r>
            </a:p>
            <a:p>
              <a:r>
                <a:rPr lang="en-GB" sz="1400" dirty="0"/>
                <a:t>that is square 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A1D945-AE4A-4944-9072-A909A02190F1}"/>
                </a:ext>
              </a:extLst>
            </p:cNvPr>
            <p:cNvSpPr txBox="1"/>
            <p:nvPr/>
          </p:nvSpPr>
          <p:spPr>
            <a:xfrm>
              <a:off x="6004872" y="-420151"/>
              <a:ext cx="12618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Rate:</a:t>
              </a:r>
              <a:br>
                <a:rPr lang="en-GB" sz="1400" b="1" dirty="0"/>
              </a:br>
              <a:r>
                <a:rPr lang="en-GB" sz="1400" dirty="0"/>
                <a:t>Rate of being green, for squares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0E0B026-37E1-4850-B0AE-331AC09415ED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587275-841C-47D9-94DC-A0A45586184C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635573-268D-49B3-9708-D5CEECDA8010}"/>
              </a:ext>
            </a:extLst>
          </p:cNvPr>
          <p:cNvSpPr txBox="1"/>
          <p:nvPr/>
        </p:nvSpPr>
        <p:spPr>
          <a:xfrm>
            <a:off x="362079" y="116614"/>
            <a:ext cx="659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Weights and Rates: Green Squares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00F3BF-5E8E-4F89-9AE6-29F932C52185}"/>
              </a:ext>
            </a:extLst>
          </p:cNvPr>
          <p:cNvSpPr txBox="1"/>
          <p:nvPr/>
        </p:nvSpPr>
        <p:spPr>
          <a:xfrm>
            <a:off x="948190" y="6140897"/>
            <a:ext cx="998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squares x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387569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110FE5-8382-4675-8C74-B2B85D637DA9}"/>
              </a:ext>
            </a:extLst>
          </p:cNvPr>
          <p:cNvGrpSpPr/>
          <p:nvPr/>
        </p:nvGrpSpPr>
        <p:grpSpPr>
          <a:xfrm>
            <a:off x="2201850" y="2118049"/>
            <a:ext cx="2199316" cy="2199316"/>
            <a:chOff x="2701385" y="1632787"/>
            <a:chExt cx="2199316" cy="219931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477CEE-C2CF-45F1-9818-E5F47373BB96}"/>
                </a:ext>
              </a:extLst>
            </p:cNvPr>
            <p:cNvSpPr/>
            <p:nvPr/>
          </p:nvSpPr>
          <p:spPr>
            <a:xfrm>
              <a:off x="2701385" y="1632787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0290DB-DD1D-4FF9-832E-61DB4B6E1E92}"/>
                </a:ext>
              </a:extLst>
            </p:cNvPr>
            <p:cNvSpPr/>
            <p:nvPr/>
          </p:nvSpPr>
          <p:spPr>
            <a:xfrm>
              <a:off x="3994838" y="2436386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4021D49-7B79-49DE-BAC4-8B4CC1FB15D1}"/>
                </a:ext>
              </a:extLst>
            </p:cNvPr>
            <p:cNvSpPr/>
            <p:nvPr/>
          </p:nvSpPr>
          <p:spPr>
            <a:xfrm>
              <a:off x="4585744" y="2593181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E7AA0DFF-2099-48D6-AB64-C6C9A2A1C5C5}"/>
                </a:ext>
              </a:extLst>
            </p:cNvPr>
            <p:cNvSpPr/>
            <p:nvPr/>
          </p:nvSpPr>
          <p:spPr>
            <a:xfrm>
              <a:off x="4357370" y="330622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1F092B-AECA-4126-B660-ACC75832FC70}"/>
                </a:ext>
              </a:extLst>
            </p:cNvPr>
            <p:cNvSpPr/>
            <p:nvPr/>
          </p:nvSpPr>
          <p:spPr>
            <a:xfrm>
              <a:off x="3249651" y="3277441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01B058-D2E6-4BC6-A117-CC0219B851B6}"/>
                </a:ext>
              </a:extLst>
            </p:cNvPr>
            <p:cNvSpPr/>
            <p:nvPr/>
          </p:nvSpPr>
          <p:spPr>
            <a:xfrm>
              <a:off x="3783139" y="2835311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A5763EAE-0664-4D64-BE41-4CADF07FF56B}"/>
                </a:ext>
              </a:extLst>
            </p:cNvPr>
            <p:cNvSpPr/>
            <p:nvPr/>
          </p:nvSpPr>
          <p:spPr>
            <a:xfrm>
              <a:off x="2977103" y="2470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EB63CEF-1DBA-4008-B392-FE6ADD1B0359}"/>
                </a:ext>
              </a:extLst>
            </p:cNvPr>
            <p:cNvSpPr/>
            <p:nvPr/>
          </p:nvSpPr>
          <p:spPr>
            <a:xfrm>
              <a:off x="3657241" y="2195156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C4AA18-8EFD-4A00-9643-FB4AAA65FFDA}"/>
                </a:ext>
              </a:extLst>
            </p:cNvPr>
            <p:cNvSpPr/>
            <p:nvPr/>
          </p:nvSpPr>
          <p:spPr>
            <a:xfrm>
              <a:off x="4265390" y="1952447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5C15217-3ED3-4CF8-A314-6825E4FF1460}"/>
                </a:ext>
              </a:extLst>
            </p:cNvPr>
            <p:cNvSpPr/>
            <p:nvPr/>
          </p:nvSpPr>
          <p:spPr>
            <a:xfrm>
              <a:off x="3498704" y="349872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D8F81B-6DD3-4766-B8F3-7AED22B333AC}"/>
                </a:ext>
              </a:extLst>
            </p:cNvPr>
            <p:cNvSpPr/>
            <p:nvPr/>
          </p:nvSpPr>
          <p:spPr>
            <a:xfrm>
              <a:off x="3295604" y="226336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0DC759D-315E-4014-84CC-F4DEFA65AD49}"/>
                </a:ext>
              </a:extLst>
            </p:cNvPr>
            <p:cNvSpPr/>
            <p:nvPr/>
          </p:nvSpPr>
          <p:spPr>
            <a:xfrm>
              <a:off x="3506366" y="1851152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AA8358-5F37-45AF-9173-156CE6FE1212}"/>
                </a:ext>
              </a:extLst>
            </p:cNvPr>
            <p:cNvSpPr/>
            <p:nvPr/>
          </p:nvSpPr>
          <p:spPr>
            <a:xfrm>
              <a:off x="3466143" y="307270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AFE778-6557-43F0-8D3E-B6A77798E0AC}"/>
                </a:ext>
              </a:extLst>
            </p:cNvPr>
            <p:cNvSpPr/>
            <p:nvPr/>
          </p:nvSpPr>
          <p:spPr>
            <a:xfrm>
              <a:off x="4256075" y="2985404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3F509A6-DDC0-4494-A1D2-D6D920571259}"/>
                </a:ext>
              </a:extLst>
            </p:cNvPr>
            <p:cNvSpPr/>
            <p:nvPr/>
          </p:nvSpPr>
          <p:spPr>
            <a:xfrm>
              <a:off x="3758464" y="2519491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7980EA-7DD6-406B-ADC0-70305BF1FF6E}"/>
                </a:ext>
              </a:extLst>
            </p:cNvPr>
            <p:cNvSpPr/>
            <p:nvPr/>
          </p:nvSpPr>
          <p:spPr>
            <a:xfrm>
              <a:off x="4357370" y="2282455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209A4CD-5924-403B-839A-185D27CD588A}"/>
                </a:ext>
              </a:extLst>
            </p:cNvPr>
            <p:cNvSpPr/>
            <p:nvPr/>
          </p:nvSpPr>
          <p:spPr>
            <a:xfrm>
              <a:off x="3426802" y="2540274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ED5859-E1D7-4E8F-AB57-151C6FDE9BE2}"/>
                </a:ext>
              </a:extLst>
            </p:cNvPr>
            <p:cNvSpPr/>
            <p:nvPr/>
          </p:nvSpPr>
          <p:spPr>
            <a:xfrm>
              <a:off x="3730020" y="3416934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4AECBBA-7CCB-44C9-95AF-086AB3C2540D}"/>
                </a:ext>
              </a:extLst>
            </p:cNvPr>
            <p:cNvSpPr/>
            <p:nvPr/>
          </p:nvSpPr>
          <p:spPr>
            <a:xfrm>
              <a:off x="4233304" y="2653298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C50AC78-1B50-48B9-806B-5B67C7E077DB}"/>
                </a:ext>
              </a:extLst>
            </p:cNvPr>
            <p:cNvSpPr/>
            <p:nvPr/>
          </p:nvSpPr>
          <p:spPr>
            <a:xfrm>
              <a:off x="3955089" y="1969368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00F4649-4DB6-4ABF-9422-9CB087076399}"/>
                </a:ext>
              </a:extLst>
            </p:cNvPr>
            <p:cNvSpPr/>
            <p:nvPr/>
          </p:nvSpPr>
          <p:spPr>
            <a:xfrm>
              <a:off x="3989711" y="3202361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F493904-F593-4B1B-9E8E-0913CCD32BC9}"/>
                </a:ext>
              </a:extLst>
            </p:cNvPr>
            <p:cNvSpPr/>
            <p:nvPr/>
          </p:nvSpPr>
          <p:spPr>
            <a:xfrm>
              <a:off x="3087728" y="2941846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FA1E3DA-A6F4-4E76-AFEB-E9CBE411FACE}"/>
                </a:ext>
              </a:extLst>
            </p:cNvPr>
            <p:cNvSpPr/>
            <p:nvPr/>
          </p:nvSpPr>
          <p:spPr>
            <a:xfrm>
              <a:off x="3348134" y="2795790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672A50-E43F-4650-8337-426603677B4C}"/>
                </a:ext>
              </a:extLst>
            </p:cNvPr>
            <p:cNvSpPr/>
            <p:nvPr/>
          </p:nvSpPr>
          <p:spPr>
            <a:xfrm>
              <a:off x="3078369" y="1984875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8EB8AC-4B28-45E7-906C-C9DF73D556CE}"/>
                </a:ext>
              </a:extLst>
            </p:cNvPr>
            <p:cNvSpPr/>
            <p:nvPr/>
          </p:nvSpPr>
          <p:spPr>
            <a:xfrm>
              <a:off x="4521216" y="2992486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115D4F-7878-4096-99D2-BAE17A535EC9}"/>
              </a:ext>
            </a:extLst>
          </p:cNvPr>
          <p:cNvGrpSpPr/>
          <p:nvPr/>
        </p:nvGrpSpPr>
        <p:grpSpPr>
          <a:xfrm>
            <a:off x="7790836" y="2181394"/>
            <a:ext cx="2199316" cy="2199316"/>
            <a:chOff x="7729381" y="1475079"/>
            <a:chExt cx="2199316" cy="219931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BF1B5F-26CB-4C22-A8A3-690A426642EF}"/>
                </a:ext>
              </a:extLst>
            </p:cNvPr>
            <p:cNvSpPr/>
            <p:nvPr/>
          </p:nvSpPr>
          <p:spPr>
            <a:xfrm>
              <a:off x="7729381" y="1475079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9641DFE-30C9-419F-B6BC-C09E6A4CA2B4}"/>
                </a:ext>
              </a:extLst>
            </p:cNvPr>
            <p:cNvSpPr/>
            <p:nvPr/>
          </p:nvSpPr>
          <p:spPr>
            <a:xfrm>
              <a:off x="9172444" y="1732202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22EBAAB-3422-4602-A61B-958F5F4CE5FD}"/>
                </a:ext>
              </a:extLst>
            </p:cNvPr>
            <p:cNvSpPr/>
            <p:nvPr/>
          </p:nvSpPr>
          <p:spPr>
            <a:xfrm>
              <a:off x="8787240" y="1747173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BAD5DB0-1CCE-4DD5-A6B8-1E3E876A8386}"/>
                </a:ext>
              </a:extLst>
            </p:cNvPr>
            <p:cNvSpPr/>
            <p:nvPr/>
          </p:nvSpPr>
          <p:spPr>
            <a:xfrm>
              <a:off x="9535662" y="2487439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C05EF8A-8073-4A1D-A073-46018BC2CBED}"/>
                </a:ext>
              </a:extLst>
            </p:cNvPr>
            <p:cNvSpPr/>
            <p:nvPr/>
          </p:nvSpPr>
          <p:spPr>
            <a:xfrm>
              <a:off x="9406493" y="2802168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E166423-9855-42A5-A331-953A9E48A8DE}"/>
                </a:ext>
              </a:extLst>
            </p:cNvPr>
            <p:cNvSpPr/>
            <p:nvPr/>
          </p:nvSpPr>
          <p:spPr>
            <a:xfrm>
              <a:off x="9224366" y="3190142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60EBA6A-C36C-4778-8885-8A2AD6CA3628}"/>
                </a:ext>
              </a:extLst>
            </p:cNvPr>
            <p:cNvSpPr/>
            <p:nvPr/>
          </p:nvSpPr>
          <p:spPr>
            <a:xfrm>
              <a:off x="8986839" y="2238645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D0D90B5-50B2-4778-B090-B1C376FC39DA}"/>
                </a:ext>
              </a:extLst>
            </p:cNvPr>
            <p:cNvSpPr/>
            <p:nvPr/>
          </p:nvSpPr>
          <p:spPr>
            <a:xfrm>
              <a:off x="9343203" y="2126304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846605-F14F-41C5-81FC-A4EA44DD1909}"/>
                </a:ext>
              </a:extLst>
            </p:cNvPr>
            <p:cNvSpPr/>
            <p:nvPr/>
          </p:nvSpPr>
          <p:spPr>
            <a:xfrm>
              <a:off x="8506638" y="3072702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44FAFB2-7FA5-45F5-BC10-FF0CA6F9BBEB}"/>
                </a:ext>
              </a:extLst>
            </p:cNvPr>
            <p:cNvSpPr/>
            <p:nvPr/>
          </p:nvSpPr>
          <p:spPr>
            <a:xfrm>
              <a:off x="8229447" y="179477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5A93BEF-29AA-4D92-9CF2-EE77480F4660}"/>
                </a:ext>
              </a:extLst>
            </p:cNvPr>
            <p:cNvSpPr/>
            <p:nvPr/>
          </p:nvSpPr>
          <p:spPr>
            <a:xfrm>
              <a:off x="8699941" y="2065980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66BA277-58F6-44CD-A163-7F27B70F5FE6}"/>
                </a:ext>
              </a:extLst>
            </p:cNvPr>
            <p:cNvSpPr/>
            <p:nvPr/>
          </p:nvSpPr>
          <p:spPr>
            <a:xfrm>
              <a:off x="8493703" y="1684288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9EEA8976-86CB-4B82-9615-D4943E8F14AD}"/>
                </a:ext>
              </a:extLst>
            </p:cNvPr>
            <p:cNvSpPr/>
            <p:nvPr/>
          </p:nvSpPr>
          <p:spPr>
            <a:xfrm>
              <a:off x="9021834" y="287684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3DC83E1-57B0-4DB2-BE29-BBF8B5CD0507}"/>
                </a:ext>
              </a:extLst>
            </p:cNvPr>
            <p:cNvSpPr/>
            <p:nvPr/>
          </p:nvSpPr>
          <p:spPr>
            <a:xfrm>
              <a:off x="8419340" y="2039006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706A27F-0FE1-403A-A329-FA757EEEC8AA}"/>
                </a:ext>
              </a:extLst>
            </p:cNvPr>
            <p:cNvSpPr/>
            <p:nvPr/>
          </p:nvSpPr>
          <p:spPr>
            <a:xfrm>
              <a:off x="8442140" y="2334846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745AA1D0-B8C7-452D-9472-56FFA2C74D52}"/>
                </a:ext>
              </a:extLst>
            </p:cNvPr>
            <p:cNvSpPr/>
            <p:nvPr/>
          </p:nvSpPr>
          <p:spPr>
            <a:xfrm>
              <a:off x="8096091" y="21078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A9EC15C-3D26-4DE3-BB37-6608967C2F5D}"/>
                </a:ext>
              </a:extLst>
            </p:cNvPr>
            <p:cNvSpPr/>
            <p:nvPr/>
          </p:nvSpPr>
          <p:spPr>
            <a:xfrm>
              <a:off x="7934970" y="2432192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C3F094F-78AD-4FB4-BB16-A083688D831E}"/>
                </a:ext>
              </a:extLst>
            </p:cNvPr>
            <p:cNvSpPr/>
            <p:nvPr/>
          </p:nvSpPr>
          <p:spPr>
            <a:xfrm>
              <a:off x="8654442" y="2763715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ED758C87-07E0-40A6-BF19-391378B0A911}"/>
                </a:ext>
              </a:extLst>
            </p:cNvPr>
            <p:cNvSpPr/>
            <p:nvPr/>
          </p:nvSpPr>
          <p:spPr>
            <a:xfrm>
              <a:off x="8067251" y="2941846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BC4955D-5406-4C9B-9514-EF344292489C}"/>
                </a:ext>
              </a:extLst>
            </p:cNvPr>
            <p:cNvSpPr/>
            <p:nvPr/>
          </p:nvSpPr>
          <p:spPr>
            <a:xfrm>
              <a:off x="8320742" y="2694088"/>
              <a:ext cx="174597" cy="1745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87E18A4-3394-4F2A-8438-B320C7695394}"/>
                </a:ext>
              </a:extLst>
            </p:cNvPr>
            <p:cNvSpPr/>
            <p:nvPr/>
          </p:nvSpPr>
          <p:spPr>
            <a:xfrm>
              <a:off x="9082555" y="1980255"/>
              <a:ext cx="174597" cy="17459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7DAB2034-B23E-4052-80C1-ECD39A66EAAB}"/>
                </a:ext>
              </a:extLst>
            </p:cNvPr>
            <p:cNvSpPr/>
            <p:nvPr/>
          </p:nvSpPr>
          <p:spPr>
            <a:xfrm>
              <a:off x="8720894" y="2383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4F7B07B3-957D-4521-9A3D-3F8BD000C55F}"/>
                </a:ext>
              </a:extLst>
            </p:cNvPr>
            <p:cNvSpPr/>
            <p:nvPr/>
          </p:nvSpPr>
          <p:spPr>
            <a:xfrm>
              <a:off x="9088105" y="250896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3B8DC998-E25D-45DD-8D29-DA6EB228E0F1}"/>
                </a:ext>
              </a:extLst>
            </p:cNvPr>
            <p:cNvSpPr/>
            <p:nvPr/>
          </p:nvSpPr>
          <p:spPr>
            <a:xfrm>
              <a:off x="7888015" y="2714870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5203079-26F3-4244-9436-CA6832FBDFDB}"/>
                </a:ext>
              </a:extLst>
            </p:cNvPr>
            <p:cNvSpPr/>
            <p:nvPr/>
          </p:nvSpPr>
          <p:spPr>
            <a:xfrm>
              <a:off x="8718036" y="3324126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595A51D7-4CA9-41A6-A92D-312500B57F58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FA98C40-6ADA-45B2-A252-DAF75E0330F3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D5AD37E-D5B1-4521-B7AB-10F8974D1EE8}"/>
              </a:ext>
            </a:extLst>
          </p:cNvPr>
          <p:cNvGrpSpPr/>
          <p:nvPr/>
        </p:nvGrpSpPr>
        <p:grpSpPr>
          <a:xfrm>
            <a:off x="2477568" y="5351284"/>
            <a:ext cx="7888465" cy="474311"/>
            <a:chOff x="1703439" y="5050411"/>
            <a:chExt cx="7888465" cy="474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14966D0-AC0C-4B1C-880C-931FCD924374}"/>
                    </a:ext>
                  </a:extLst>
                </p:cNvPr>
                <p:cNvSpPr txBox="1"/>
                <p:nvPr/>
              </p:nvSpPr>
              <p:spPr>
                <a:xfrm>
                  <a:off x="7070572" y="5093440"/>
                  <a:ext cx="252133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ea typeface="Cambria Math" panose="02040503050406030204" pitchFamily="18" charset="0"/>
                    </a:rPr>
                    <a:t>(                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      )        </a:t>
                  </a:r>
                </a:p>
              </p:txBody>
            </p:sp>
          </mc:Choice>
          <mc:Fallback xmlns="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E14966D0-AC0C-4B1C-880C-931FCD9243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0572" y="5093440"/>
                  <a:ext cx="2521332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179" t="-10000" b="-26667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9C8395B-D2CB-471B-887F-E54D97B8419D}"/>
                    </a:ext>
                  </a:extLst>
                </p:cNvPr>
                <p:cNvSpPr txBox="1"/>
                <p:nvPr/>
              </p:nvSpPr>
              <p:spPr>
                <a:xfrm>
                  <a:off x="1703439" y="5090658"/>
                  <a:ext cx="252133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ea typeface="Cambria Math" panose="02040503050406030204" pitchFamily="18" charset="0"/>
                    </a:rPr>
                    <a:t>(                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      )        +</a:t>
                  </a:r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9C8395B-D2CB-471B-887F-E54D97B84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3439" y="5090658"/>
                  <a:ext cx="252133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932" t="-8197" r="-725" b="-24590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F30D867-2C8E-46CD-AD38-EC97AFF5C7EF}"/>
                </a:ext>
              </a:extLst>
            </p:cNvPr>
            <p:cNvSpPr txBox="1"/>
            <p:nvPr/>
          </p:nvSpPr>
          <p:spPr>
            <a:xfrm>
              <a:off x="2030597" y="5244941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A3B382D4-1EF9-4941-A05C-469962A3058E}"/>
                </a:ext>
              </a:extLst>
            </p:cNvPr>
            <p:cNvSpPr/>
            <p:nvPr/>
          </p:nvSpPr>
          <p:spPr>
            <a:xfrm>
              <a:off x="1930824" y="5301829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A8A4C9C-69AB-44DE-A4EF-8F42B3360E7F}"/>
                </a:ext>
              </a:extLst>
            </p:cNvPr>
            <p:cNvSpPr/>
            <p:nvPr/>
          </p:nvSpPr>
          <p:spPr>
            <a:xfrm>
              <a:off x="2471703" y="5307358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Isosceles Triangle 129">
              <a:extLst>
                <a:ext uri="{FF2B5EF4-FFF2-40B4-BE49-F238E27FC236}">
                  <a16:creationId xmlns:a16="http://schemas.microsoft.com/office/drawing/2014/main" id="{7033C109-EF10-4F92-8F94-863556980C4F}"/>
                </a:ext>
              </a:extLst>
            </p:cNvPr>
            <p:cNvSpPr/>
            <p:nvPr/>
          </p:nvSpPr>
          <p:spPr>
            <a:xfrm>
              <a:off x="2185634" y="5298729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4EC09778-111C-48E1-B0D0-7A6E7EA08383}"/>
                </a:ext>
              </a:extLst>
            </p:cNvPr>
            <p:cNvCxnSpPr>
              <a:cxnSpLocks/>
            </p:cNvCxnSpPr>
            <p:nvPr/>
          </p:nvCxnSpPr>
          <p:spPr>
            <a:xfrm>
              <a:off x="1933686" y="5275324"/>
              <a:ext cx="7489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A24764B7-90B2-42AA-BBC3-FEBAB07F20C3}"/>
                </a:ext>
              </a:extLst>
            </p:cNvPr>
            <p:cNvCxnSpPr>
              <a:cxnSpLocks/>
            </p:cNvCxnSpPr>
            <p:nvPr/>
          </p:nvCxnSpPr>
          <p:spPr>
            <a:xfrm>
              <a:off x="3096699" y="5275324"/>
              <a:ext cx="2519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E52BBBF-B63C-452E-9CF0-281ACAF25D45}"/>
                </a:ext>
              </a:extLst>
            </p:cNvPr>
            <p:cNvSpPr txBox="1"/>
            <p:nvPr/>
          </p:nvSpPr>
          <p:spPr>
            <a:xfrm>
              <a:off x="4672716" y="5244941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36770B5D-1494-4309-A32B-E86D782F2161}"/>
                </a:ext>
              </a:extLst>
            </p:cNvPr>
            <p:cNvSpPr/>
            <p:nvPr/>
          </p:nvSpPr>
          <p:spPr>
            <a:xfrm>
              <a:off x="4572943" y="5301829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76CEDBB-EC4C-4FED-B5E3-89F92379E1EB}"/>
                </a:ext>
              </a:extLst>
            </p:cNvPr>
            <p:cNvSpPr/>
            <p:nvPr/>
          </p:nvSpPr>
          <p:spPr>
            <a:xfrm>
              <a:off x="5113822" y="5307358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6" name="Isosceles Triangle 165">
              <a:extLst>
                <a:ext uri="{FF2B5EF4-FFF2-40B4-BE49-F238E27FC236}">
                  <a16:creationId xmlns:a16="http://schemas.microsoft.com/office/drawing/2014/main" id="{7BE01558-B11B-4039-BD64-445699AF4E93}"/>
                </a:ext>
              </a:extLst>
            </p:cNvPr>
            <p:cNvSpPr/>
            <p:nvPr/>
          </p:nvSpPr>
          <p:spPr>
            <a:xfrm>
              <a:off x="4827753" y="5298729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C9E0112-030B-4F9E-87CA-6768D473CC87}"/>
                </a:ext>
              </a:extLst>
            </p:cNvPr>
            <p:cNvCxnSpPr>
              <a:cxnSpLocks/>
            </p:cNvCxnSpPr>
            <p:nvPr/>
          </p:nvCxnSpPr>
          <p:spPr>
            <a:xfrm>
              <a:off x="4575805" y="5275324"/>
              <a:ext cx="7489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Isosceles Triangle 167">
              <a:extLst>
                <a:ext uri="{FF2B5EF4-FFF2-40B4-BE49-F238E27FC236}">
                  <a16:creationId xmlns:a16="http://schemas.microsoft.com/office/drawing/2014/main" id="{80A895B7-E0A5-448D-B4F2-88C9FD758B84}"/>
                </a:ext>
              </a:extLst>
            </p:cNvPr>
            <p:cNvSpPr/>
            <p:nvPr/>
          </p:nvSpPr>
          <p:spPr>
            <a:xfrm>
              <a:off x="4830025" y="505079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CE6EC8D0-6C9C-4E74-A4EF-317AADA20BFB}"/>
                </a:ext>
              </a:extLst>
            </p:cNvPr>
            <p:cNvSpPr/>
            <p:nvPr/>
          </p:nvSpPr>
          <p:spPr>
            <a:xfrm>
              <a:off x="5763304" y="5298729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2B202A8-EBF8-40DA-93BC-8834C37A0026}"/>
                </a:ext>
              </a:extLst>
            </p:cNvPr>
            <p:cNvCxnSpPr>
              <a:cxnSpLocks/>
            </p:cNvCxnSpPr>
            <p:nvPr/>
          </p:nvCxnSpPr>
          <p:spPr>
            <a:xfrm>
              <a:off x="5738818" y="5275324"/>
              <a:ext cx="2519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B92F24A9-DA6F-47CE-A6FE-3D0274088AC5}"/>
                </a:ext>
              </a:extLst>
            </p:cNvPr>
            <p:cNvSpPr/>
            <p:nvPr/>
          </p:nvSpPr>
          <p:spPr>
            <a:xfrm>
              <a:off x="5765576" y="505079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274449A-656F-4E12-99B8-6B7C91E33FF5}"/>
                    </a:ext>
                  </a:extLst>
                </p:cNvPr>
                <p:cNvSpPr txBox="1"/>
                <p:nvPr/>
              </p:nvSpPr>
              <p:spPr>
                <a:xfrm>
                  <a:off x="4345558" y="5090658"/>
                  <a:ext cx="2521332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>
                      <a:ea typeface="Cambria Math" panose="02040503050406030204" pitchFamily="18" charset="0"/>
                    </a:rPr>
                    <a:t>(                 </a:t>
                  </a:r>
                  <a14:m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      )        +</a:t>
                  </a:r>
                </a:p>
              </p:txBody>
            </p:sp>
          </mc:Choice>
          <mc:Fallback xmlns=""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C274449A-656F-4E12-99B8-6B7C91E33F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5558" y="5090658"/>
                  <a:ext cx="252133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179" t="-8197" r="-726" b="-24590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C3CF71DD-0F7A-4AAA-AC46-7A84DFFD97F6}"/>
                </a:ext>
              </a:extLst>
            </p:cNvPr>
            <p:cNvSpPr txBox="1"/>
            <p:nvPr/>
          </p:nvSpPr>
          <p:spPr>
            <a:xfrm>
              <a:off x="7397730" y="5247723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FB5632BB-6B4F-4912-B805-C07AAC4D9857}"/>
                </a:ext>
              </a:extLst>
            </p:cNvPr>
            <p:cNvSpPr/>
            <p:nvPr/>
          </p:nvSpPr>
          <p:spPr>
            <a:xfrm>
              <a:off x="7297957" y="5304611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53E59DB0-34BA-4194-B5B8-45B2B497ACC0}"/>
                </a:ext>
              </a:extLst>
            </p:cNvPr>
            <p:cNvSpPr/>
            <p:nvPr/>
          </p:nvSpPr>
          <p:spPr>
            <a:xfrm>
              <a:off x="7838836" y="5310140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76" name="Isosceles Triangle 175">
              <a:extLst>
                <a:ext uri="{FF2B5EF4-FFF2-40B4-BE49-F238E27FC236}">
                  <a16:creationId xmlns:a16="http://schemas.microsoft.com/office/drawing/2014/main" id="{DDA9F79E-1DDD-4169-8053-561E2ED7E9A2}"/>
                </a:ext>
              </a:extLst>
            </p:cNvPr>
            <p:cNvSpPr/>
            <p:nvPr/>
          </p:nvSpPr>
          <p:spPr>
            <a:xfrm>
              <a:off x="7552767" y="5301511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BC2C62B-915F-4553-A698-0708AFCB044B}"/>
                </a:ext>
              </a:extLst>
            </p:cNvPr>
            <p:cNvCxnSpPr>
              <a:cxnSpLocks/>
            </p:cNvCxnSpPr>
            <p:nvPr/>
          </p:nvCxnSpPr>
          <p:spPr>
            <a:xfrm>
              <a:off x="7300819" y="5278106"/>
              <a:ext cx="7489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280A204-EC05-4258-9A98-352874B898E3}"/>
                </a:ext>
              </a:extLst>
            </p:cNvPr>
            <p:cNvCxnSpPr>
              <a:cxnSpLocks/>
            </p:cNvCxnSpPr>
            <p:nvPr/>
          </p:nvCxnSpPr>
          <p:spPr>
            <a:xfrm>
              <a:off x="8463832" y="5278106"/>
              <a:ext cx="2519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6FD08E77-9271-4B2C-AA0B-1912D17336E8}"/>
                </a:ext>
              </a:extLst>
            </p:cNvPr>
            <p:cNvSpPr/>
            <p:nvPr/>
          </p:nvSpPr>
          <p:spPr>
            <a:xfrm>
              <a:off x="3143186" y="5050411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7F8BDC88-4E74-4AE7-8012-A200FD94295A}"/>
                </a:ext>
              </a:extLst>
            </p:cNvPr>
            <p:cNvSpPr/>
            <p:nvPr/>
          </p:nvSpPr>
          <p:spPr>
            <a:xfrm>
              <a:off x="3135374" y="5307357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06F46333-70AF-4D02-B185-880FC207ACB3}"/>
                </a:ext>
              </a:extLst>
            </p:cNvPr>
            <p:cNvSpPr/>
            <p:nvPr/>
          </p:nvSpPr>
          <p:spPr>
            <a:xfrm>
              <a:off x="2205613" y="5055037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35B6DCF-8A24-4168-BFAE-5176E6070582}"/>
                </a:ext>
              </a:extLst>
            </p:cNvPr>
            <p:cNvSpPr/>
            <p:nvPr/>
          </p:nvSpPr>
          <p:spPr>
            <a:xfrm>
              <a:off x="7565435" y="5063058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B182C29-0481-4624-A4E0-76C389861ABA}"/>
                </a:ext>
              </a:extLst>
            </p:cNvPr>
            <p:cNvSpPr/>
            <p:nvPr/>
          </p:nvSpPr>
          <p:spPr>
            <a:xfrm>
              <a:off x="8501222" y="5309591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A9C85146-B574-4C6A-8A13-8214F91D1299}"/>
                </a:ext>
              </a:extLst>
            </p:cNvPr>
            <p:cNvSpPr/>
            <p:nvPr/>
          </p:nvSpPr>
          <p:spPr>
            <a:xfrm>
              <a:off x="8509329" y="5065241"/>
              <a:ext cx="163903" cy="17778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363C150-D7BC-4F2C-BF44-BAF082DD90EA}"/>
              </a:ext>
            </a:extLst>
          </p:cNvPr>
          <p:cNvGrpSpPr/>
          <p:nvPr/>
        </p:nvGrpSpPr>
        <p:grpSpPr>
          <a:xfrm>
            <a:off x="5720112" y="4117739"/>
            <a:ext cx="751775" cy="524935"/>
            <a:chOff x="5431627" y="3371522"/>
            <a:chExt cx="751775" cy="524935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629416F-9A5F-4C7A-B7EA-D87266325306}"/>
                </a:ext>
              </a:extLst>
            </p:cNvPr>
            <p:cNvSpPr txBox="1"/>
            <p:nvPr/>
          </p:nvSpPr>
          <p:spPr>
            <a:xfrm>
              <a:off x="5531400" y="3619458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A5E4A8A-B064-4666-841C-01ED7E07823C}"/>
                </a:ext>
              </a:extLst>
            </p:cNvPr>
            <p:cNvSpPr/>
            <p:nvPr/>
          </p:nvSpPr>
          <p:spPr>
            <a:xfrm>
              <a:off x="5431627" y="3676346"/>
              <a:ext cx="174597" cy="17459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3DF6F6B-9D3A-45F7-AB80-AAE127A698F0}"/>
                </a:ext>
              </a:extLst>
            </p:cNvPr>
            <p:cNvSpPr/>
            <p:nvPr/>
          </p:nvSpPr>
          <p:spPr>
            <a:xfrm>
              <a:off x="5972506" y="3681875"/>
              <a:ext cx="174597" cy="17459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7AA20511-C769-46A8-B4DE-B4FB3389F02E}"/>
                </a:ext>
              </a:extLst>
            </p:cNvPr>
            <p:cNvSpPr/>
            <p:nvPr/>
          </p:nvSpPr>
          <p:spPr>
            <a:xfrm>
              <a:off x="5686437" y="3673246"/>
              <a:ext cx="202532" cy="174597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7BC4B01-555B-4015-99C7-83F323102F54}"/>
                </a:ext>
              </a:extLst>
            </p:cNvPr>
            <p:cNvCxnSpPr>
              <a:cxnSpLocks/>
            </p:cNvCxnSpPr>
            <p:nvPr/>
          </p:nvCxnSpPr>
          <p:spPr>
            <a:xfrm>
              <a:off x="5434489" y="3649841"/>
              <a:ext cx="74891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0D5A229-E49D-4E51-BAF7-B4C10BEB74EE}"/>
                </a:ext>
              </a:extLst>
            </p:cNvPr>
            <p:cNvSpPr txBox="1"/>
            <p:nvPr/>
          </p:nvSpPr>
          <p:spPr>
            <a:xfrm>
              <a:off x="5533672" y="3371522"/>
              <a:ext cx="510009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+     +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C6CD775-B024-4A29-AFD4-5D56AC6A0BE0}"/>
                </a:ext>
              </a:extLst>
            </p:cNvPr>
            <p:cNvSpPr/>
            <p:nvPr/>
          </p:nvSpPr>
          <p:spPr>
            <a:xfrm>
              <a:off x="5433899" y="3428410"/>
              <a:ext cx="174597" cy="17459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37F39605-DC94-4636-892E-5D84EF950744}"/>
                </a:ext>
              </a:extLst>
            </p:cNvPr>
            <p:cNvSpPr/>
            <p:nvPr/>
          </p:nvSpPr>
          <p:spPr>
            <a:xfrm>
              <a:off x="5974778" y="3433939"/>
              <a:ext cx="174597" cy="17459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Isosceles Triangle 111">
              <a:extLst>
                <a:ext uri="{FF2B5EF4-FFF2-40B4-BE49-F238E27FC236}">
                  <a16:creationId xmlns:a16="http://schemas.microsoft.com/office/drawing/2014/main" id="{08793B1C-B955-4900-8933-0634DA035C20}"/>
                </a:ext>
              </a:extLst>
            </p:cNvPr>
            <p:cNvSpPr/>
            <p:nvPr/>
          </p:nvSpPr>
          <p:spPr>
            <a:xfrm>
              <a:off x="5688709" y="342531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25EE7B-D9EA-44B0-95DC-524AA5A73626}"/>
              </a:ext>
            </a:extLst>
          </p:cNvPr>
          <p:cNvCxnSpPr/>
          <p:nvPr/>
        </p:nvCxnSpPr>
        <p:spPr>
          <a:xfrm flipV="1">
            <a:off x="2879550" y="6000750"/>
            <a:ext cx="45163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80541A-19BF-4F75-81EE-902D5EF78D60}"/>
              </a:ext>
            </a:extLst>
          </p:cNvPr>
          <p:cNvCxnSpPr/>
          <p:nvPr/>
        </p:nvCxnSpPr>
        <p:spPr>
          <a:xfrm flipV="1">
            <a:off x="4021681" y="6000750"/>
            <a:ext cx="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0114CE-8E6A-472D-A981-758D939429FB}"/>
              </a:ext>
            </a:extLst>
          </p:cNvPr>
          <p:cNvSpPr txBox="1"/>
          <p:nvPr/>
        </p:nvSpPr>
        <p:spPr>
          <a:xfrm>
            <a:off x="2342164" y="6339224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weight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A3BC76F-C33E-4CAB-8B58-1D7AE12F3E02}"/>
              </a:ext>
            </a:extLst>
          </p:cNvPr>
          <p:cNvSpPr txBox="1"/>
          <p:nvPr/>
        </p:nvSpPr>
        <p:spPr>
          <a:xfrm>
            <a:off x="3664773" y="6345823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rate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BF5061B-EA5F-4F0B-B01D-0CBC4C332E66}"/>
              </a:ext>
            </a:extLst>
          </p:cNvPr>
          <p:cNvCxnSpPr/>
          <p:nvPr/>
        </p:nvCxnSpPr>
        <p:spPr>
          <a:xfrm flipV="1">
            <a:off x="5544671" y="5991996"/>
            <a:ext cx="45163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E7127F2-E973-48FB-BD8C-5AF99392B1F8}"/>
              </a:ext>
            </a:extLst>
          </p:cNvPr>
          <p:cNvCxnSpPr/>
          <p:nvPr/>
        </p:nvCxnSpPr>
        <p:spPr>
          <a:xfrm flipV="1">
            <a:off x="6686802" y="5991996"/>
            <a:ext cx="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2870C3C-3FA5-4153-9555-0F6A9F644E5F}"/>
              </a:ext>
            </a:extLst>
          </p:cNvPr>
          <p:cNvSpPr txBox="1"/>
          <p:nvPr/>
        </p:nvSpPr>
        <p:spPr>
          <a:xfrm>
            <a:off x="5007285" y="6330470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weight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60B4652-A7DB-4774-9CAC-0B7F7053658F}"/>
              </a:ext>
            </a:extLst>
          </p:cNvPr>
          <p:cNvSpPr txBox="1"/>
          <p:nvPr/>
        </p:nvSpPr>
        <p:spPr>
          <a:xfrm>
            <a:off x="6329894" y="6337069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rate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C0187FB-5746-4367-81F7-7AC205485126}"/>
              </a:ext>
            </a:extLst>
          </p:cNvPr>
          <p:cNvCxnSpPr/>
          <p:nvPr/>
        </p:nvCxnSpPr>
        <p:spPr>
          <a:xfrm flipV="1">
            <a:off x="8319536" y="5982414"/>
            <a:ext cx="45163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38A9ED9-0C55-4CAC-AC23-373E66C62C3C}"/>
              </a:ext>
            </a:extLst>
          </p:cNvPr>
          <p:cNvCxnSpPr/>
          <p:nvPr/>
        </p:nvCxnSpPr>
        <p:spPr>
          <a:xfrm flipV="1">
            <a:off x="9461667" y="5982414"/>
            <a:ext cx="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AF10F9C1-F519-4C3D-AE4E-53683E5BD2B1}"/>
              </a:ext>
            </a:extLst>
          </p:cNvPr>
          <p:cNvSpPr txBox="1"/>
          <p:nvPr/>
        </p:nvSpPr>
        <p:spPr>
          <a:xfrm>
            <a:off x="7782150" y="6320888"/>
            <a:ext cx="82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weight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1AF76B0-0C49-4119-80ED-3D4A6140C169}"/>
              </a:ext>
            </a:extLst>
          </p:cNvPr>
          <p:cNvSpPr txBox="1"/>
          <p:nvPr/>
        </p:nvSpPr>
        <p:spPr>
          <a:xfrm>
            <a:off x="9104759" y="6327487"/>
            <a:ext cx="558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rate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090F06F-40CE-4F86-B398-8CE191503CC2}"/>
              </a:ext>
            </a:extLst>
          </p:cNvPr>
          <p:cNvSpPr txBox="1"/>
          <p:nvPr/>
        </p:nvSpPr>
        <p:spPr>
          <a:xfrm>
            <a:off x="362079" y="116614"/>
            <a:ext cx="6435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Weights and Rates: Green Shapes</a:t>
            </a:r>
          </a:p>
        </p:txBody>
      </p:sp>
    </p:spTree>
    <p:extLst>
      <p:ext uri="{BB962C8B-B14F-4D97-AF65-F5344CB8AC3E}">
        <p14:creationId xmlns:p14="http://schemas.microsoft.com/office/powerpoint/2010/main" val="1141534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1761067" y="914399"/>
            <a:ext cx="531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Group Disparity in 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D689B09-FFFB-4D65-BEE4-90B577B38B40}"/>
              </a:ext>
            </a:extLst>
          </p:cNvPr>
          <p:cNvSpPr/>
          <p:nvPr/>
        </p:nvSpPr>
        <p:spPr>
          <a:xfrm rot="16200000">
            <a:off x="4116917" y="-1675887"/>
            <a:ext cx="643466" cy="6972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591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3953225" y="914396"/>
            <a:ext cx="4656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Recovery from Stroke: Hospital A vs Hospital B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8AC0C3A-2132-4527-8882-5A7D6C5B84BA}"/>
              </a:ext>
            </a:extLst>
          </p:cNvPr>
          <p:cNvSpPr/>
          <p:nvPr/>
        </p:nvSpPr>
        <p:spPr>
          <a:xfrm rot="16200000">
            <a:off x="5774267" y="-3333237"/>
            <a:ext cx="643466" cy="10287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r>
              <a:rPr lang="en-GB" b="1" dirty="0">
                <a:latin typeface="Goudy Old Style" panose="02020502050305020303" pitchFamily="18" charset="0"/>
              </a:rPr>
              <a:t>better recovery for patients with zero physiotherapy in </a:t>
            </a:r>
            <a:r>
              <a:rPr lang="en-GB" b="1" dirty="0" err="1">
                <a:latin typeface="Goudy Old Style" panose="02020502050305020303" pitchFamily="18" charset="0"/>
              </a:rPr>
              <a:t>HospA</a:t>
            </a:r>
            <a:r>
              <a:rPr lang="en-GB" b="1" dirty="0">
                <a:latin typeface="Goudy Old Style" panose="02020502050305020303" pitchFamily="18" charset="0"/>
              </a:rPr>
              <a:t> compared to patients with zero physiotherapy in </a:t>
            </a:r>
            <a:r>
              <a:rPr lang="en-GB" b="1" dirty="0" err="1">
                <a:latin typeface="Goudy Old Style" panose="02020502050305020303" pitchFamily="18" charset="0"/>
              </a:rPr>
              <a:t>HospB</a:t>
            </a:r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Higher proportion of patients given physiotherapy in </a:t>
            </a:r>
            <a:r>
              <a:rPr lang="en-GB" b="1" dirty="0" err="1">
                <a:latin typeface="Goudy Old Style" panose="02020502050305020303" pitchFamily="18" charset="0"/>
              </a:rPr>
              <a:t>HospA</a:t>
            </a:r>
            <a:r>
              <a:rPr lang="en-GB" b="1" dirty="0">
                <a:latin typeface="Goudy Old Style" panose="02020502050305020303" pitchFamily="18" charset="0"/>
              </a:rPr>
              <a:t> vs </a:t>
            </a:r>
            <a:r>
              <a:rPr lang="en-GB" b="1" dirty="0" err="1">
                <a:latin typeface="Goudy Old Style" panose="02020502050305020303" pitchFamily="18" charset="0"/>
              </a:rPr>
              <a:t>HospB</a:t>
            </a:r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Physiotherapy has a better effect on recovery in </a:t>
            </a:r>
            <a:r>
              <a:rPr lang="en-GB" b="1" dirty="0" err="1">
                <a:latin typeface="Goudy Old Style" panose="02020502050305020303" pitchFamily="18" charset="0"/>
              </a:rPr>
              <a:t>HospA</a:t>
            </a:r>
            <a:r>
              <a:rPr lang="en-GB" b="1" dirty="0">
                <a:latin typeface="Goudy Old Style" panose="02020502050305020303" pitchFamily="18" charset="0"/>
              </a:rPr>
              <a:t> than it does in </a:t>
            </a:r>
            <a:r>
              <a:rPr lang="en-GB" b="1" dirty="0" err="1">
                <a:latin typeface="Goudy Old Style" panose="02020502050305020303" pitchFamily="18" charset="0"/>
              </a:rPr>
              <a:t>HospB</a:t>
            </a:r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22128-FD95-4FA6-9110-1E2E00BA734E}"/>
              </a:ext>
            </a:extLst>
          </p:cNvPr>
          <p:cNvSpPr txBox="1"/>
          <p:nvPr/>
        </p:nvSpPr>
        <p:spPr>
          <a:xfrm>
            <a:off x="9368367" y="2336798"/>
            <a:ext cx="2807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selection into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In </a:t>
            </a:r>
            <a:r>
              <a:rPr lang="en-GB" b="1" dirty="0" err="1">
                <a:latin typeface="Goudy Old Style" panose="02020502050305020303" pitchFamily="18" charset="0"/>
              </a:rPr>
              <a:t>HospA</a:t>
            </a:r>
            <a:r>
              <a:rPr lang="en-GB" b="1" dirty="0">
                <a:latin typeface="Goudy Old Style" panose="02020502050305020303" pitchFamily="18" charset="0"/>
              </a:rPr>
              <a:t>, physio is specifically targeted for those it will help more. </a:t>
            </a: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In </a:t>
            </a:r>
            <a:r>
              <a:rPr lang="en-GB" b="1" dirty="0" err="1">
                <a:latin typeface="Goudy Old Style" panose="02020502050305020303" pitchFamily="18" charset="0"/>
              </a:rPr>
              <a:t>HospB</a:t>
            </a:r>
            <a:r>
              <a:rPr lang="en-GB" b="1" dirty="0">
                <a:latin typeface="Goudy Old Style" panose="02020502050305020303" pitchFamily="18" charset="0"/>
              </a:rPr>
              <a:t>, physio is given randomly</a:t>
            </a:r>
          </a:p>
        </p:txBody>
      </p:sp>
    </p:spTree>
    <p:extLst>
      <p:ext uri="{BB962C8B-B14F-4D97-AF65-F5344CB8AC3E}">
        <p14:creationId xmlns:p14="http://schemas.microsoft.com/office/powerpoint/2010/main" val="37948001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481891" y="914396"/>
            <a:ext cx="9176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Disparity in offspring’s income between Parents with High Income vs Parents with Low Income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8AC0C3A-2132-4527-8882-5A7D6C5B84BA}"/>
              </a:ext>
            </a:extLst>
          </p:cNvPr>
          <p:cNvSpPr/>
          <p:nvPr/>
        </p:nvSpPr>
        <p:spPr>
          <a:xfrm rot="16200000">
            <a:off x="4116917" y="-1675887"/>
            <a:ext cx="643466" cy="69723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r>
              <a:rPr lang="en-GB" b="1" dirty="0">
                <a:latin typeface="Goudy Old Style" panose="02020502050305020303" pitchFamily="18" charset="0"/>
              </a:rPr>
              <a:t>offspring of PHI without college degree earn more than offspring of PLI without a degree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Higher proportion of PHI offspring have college degree compared to PLI offspring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College degree results in greater increase in income for PHI offspring than it does for PLI offspring</a:t>
            </a:r>
          </a:p>
        </p:txBody>
      </p:sp>
    </p:spTree>
    <p:extLst>
      <p:ext uri="{BB962C8B-B14F-4D97-AF65-F5344CB8AC3E}">
        <p14:creationId xmlns:p14="http://schemas.microsoft.com/office/powerpoint/2010/main" val="22701354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D6156E-44CD-4E61-BCF7-CA7549F4B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20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CF1373-2DB3-4E84-BC81-82B34F03B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83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D7B2E9-A611-4536-8251-49772A944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57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BDDB37-83D0-4239-BAE9-2A953EE46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475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5008425" y="914396"/>
            <a:ext cx="217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Group Disparity in Y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8AC0C3A-2132-4527-8882-5A7D6C5B84BA}"/>
              </a:ext>
            </a:extLst>
          </p:cNvPr>
          <p:cNvSpPr/>
          <p:nvPr/>
        </p:nvSpPr>
        <p:spPr>
          <a:xfrm rot="16200000">
            <a:off x="5774267" y="-3333237"/>
            <a:ext cx="643466" cy="10287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  <a:br>
              <a:rPr lang="en-GB" b="1" dirty="0">
                <a:latin typeface="Goudy Old Style" panose="02020502050305020303" pitchFamily="18" charset="0"/>
              </a:rPr>
            </a:br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22128-FD95-4FA6-9110-1E2E00BA734E}"/>
              </a:ext>
            </a:extLst>
          </p:cNvPr>
          <p:cNvSpPr txBox="1"/>
          <p:nvPr/>
        </p:nvSpPr>
        <p:spPr>
          <a:xfrm>
            <a:off x="9368367" y="2336798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selection into X</a:t>
            </a:r>
          </a:p>
        </p:txBody>
      </p:sp>
    </p:spTree>
    <p:extLst>
      <p:ext uri="{BB962C8B-B14F-4D97-AF65-F5344CB8AC3E}">
        <p14:creationId xmlns:p14="http://schemas.microsoft.com/office/powerpoint/2010/main" val="448898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1424239" y="914396"/>
            <a:ext cx="9176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Disparity in offspring’s income between Parents with High Income vs Parents with Low Income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8AC0C3A-2132-4527-8882-5A7D6C5B84BA}"/>
              </a:ext>
            </a:extLst>
          </p:cNvPr>
          <p:cNvSpPr/>
          <p:nvPr/>
        </p:nvSpPr>
        <p:spPr>
          <a:xfrm rot="16200000">
            <a:off x="5774267" y="-3333237"/>
            <a:ext cx="643466" cy="10287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br>
              <a:rPr lang="en-GB" b="1" dirty="0">
                <a:latin typeface="Goudy Old Style" panose="02020502050305020303" pitchFamily="18" charset="0"/>
              </a:rPr>
            </a:br>
            <a:r>
              <a:rPr lang="en-GB" b="1" dirty="0">
                <a:latin typeface="Goudy Old Style" panose="02020502050305020303" pitchFamily="18" charset="0"/>
              </a:rPr>
              <a:t>offspring of PHI without college degree earn more than offspring of PLI without a degree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Higher proportion of PHI offspring have college degree compared to PLI offspring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College degree results in greater increase in income for PHI offspring than it does for PLI offspring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422128-FD95-4FA6-9110-1E2E00BA734E}"/>
              </a:ext>
            </a:extLst>
          </p:cNvPr>
          <p:cNvSpPr txBox="1"/>
          <p:nvPr/>
        </p:nvSpPr>
        <p:spPr>
          <a:xfrm>
            <a:off x="9368367" y="2336798"/>
            <a:ext cx="28072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selection into X</a:t>
            </a: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endParaRPr lang="en-GB" b="1" dirty="0">
              <a:latin typeface="Goudy Old Style" panose="02020502050305020303" pitchFamily="18" charset="0"/>
            </a:endParaRPr>
          </a:p>
          <a:p>
            <a:pPr algn="ctr"/>
            <a:r>
              <a:rPr lang="en-GB" b="1" dirty="0">
                <a:latin typeface="Goudy Old Style" panose="02020502050305020303" pitchFamily="18" charset="0"/>
              </a:rPr>
              <a:t>PHI offspring for whom college will have most benefit are more likely to go to college</a:t>
            </a:r>
            <a:br>
              <a:rPr lang="en-GB" b="1" dirty="0">
                <a:latin typeface="Goudy Old Style" panose="02020502050305020303" pitchFamily="18" charset="0"/>
              </a:rPr>
            </a:br>
            <a:r>
              <a:rPr lang="en-GB" b="1" dirty="0">
                <a:latin typeface="Goudy Old Style" panose="02020502050305020303" pitchFamily="18" charset="0"/>
              </a:rPr>
              <a:t>PLI offspring for whom college will have most benefit are no more likely to go to college</a:t>
            </a:r>
          </a:p>
        </p:txBody>
      </p:sp>
    </p:spTree>
    <p:extLst>
      <p:ext uri="{BB962C8B-B14F-4D97-AF65-F5344CB8AC3E}">
        <p14:creationId xmlns:p14="http://schemas.microsoft.com/office/powerpoint/2010/main" val="30882004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71B673-E872-4706-8624-A79C8A6F9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370" y="1485219"/>
            <a:ext cx="8849030" cy="44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39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F6FCF-4067-424B-80AA-1B12749BC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370" y="1485219"/>
            <a:ext cx="8849032" cy="44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6C2AAF-6ADE-4B9A-ABC3-64C9544E9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370" y="1485219"/>
            <a:ext cx="8849032" cy="44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038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B75370-0952-4EA0-9820-4D0CF0445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370" y="1485218"/>
            <a:ext cx="8849032" cy="44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154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FE4B887-3CE5-4686-9720-D4256C5CCC06}"/>
              </a:ext>
            </a:extLst>
          </p:cNvPr>
          <p:cNvSpPr txBox="1"/>
          <p:nvPr/>
        </p:nvSpPr>
        <p:spPr>
          <a:xfrm>
            <a:off x="9368367" y="2336798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selection into 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78536-625E-4D42-A5D4-6108ACB21FC4}"/>
              </a:ext>
            </a:extLst>
          </p:cNvPr>
          <p:cNvSpPr txBox="1"/>
          <p:nvPr/>
        </p:nvSpPr>
        <p:spPr>
          <a:xfrm>
            <a:off x="4897411" y="914399"/>
            <a:ext cx="217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Group Disparity in Y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98AC0C3A-2132-4527-8882-5A7D6C5B84BA}"/>
              </a:ext>
            </a:extLst>
          </p:cNvPr>
          <p:cNvSpPr/>
          <p:nvPr/>
        </p:nvSpPr>
        <p:spPr>
          <a:xfrm rot="16200000">
            <a:off x="5774267" y="-3333237"/>
            <a:ext cx="643466" cy="10287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b="1">
              <a:latin typeface="Goudy Old Style" panose="020205020503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3AC72-BD7C-4BDA-9CA6-3FE046A4E28A}"/>
              </a:ext>
            </a:extLst>
          </p:cNvPr>
          <p:cNvSpPr txBox="1"/>
          <p:nvPr/>
        </p:nvSpPr>
        <p:spPr>
          <a:xfrm>
            <a:off x="88345" y="2336798"/>
            <a:ext cx="2671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 baseline 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5B556-EC29-42B6-B8DF-4A965CC6703E}"/>
              </a:ext>
            </a:extLst>
          </p:cNvPr>
          <p:cNvSpPr txBox="1"/>
          <p:nvPr/>
        </p:nvSpPr>
        <p:spPr>
          <a:xfrm>
            <a:off x="2937933" y="2336796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prevalence of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D7F567-C5CD-4A5D-9F25-41DACDC9792F}"/>
              </a:ext>
            </a:extLst>
          </p:cNvPr>
          <p:cNvSpPr txBox="1"/>
          <p:nvPr/>
        </p:nvSpPr>
        <p:spPr>
          <a:xfrm>
            <a:off x="6383312" y="2336798"/>
            <a:ext cx="280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Goudy Old Style" panose="02020502050305020303" pitchFamily="18" charset="0"/>
              </a:rPr>
              <a:t>Differential effects of X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E87B789-23C9-4BA1-B4BE-AD58D521425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4341561" y="2706128"/>
            <a:ext cx="130" cy="16626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571B37-7348-47F7-BE58-1329D9C5A0B2}"/>
              </a:ext>
            </a:extLst>
          </p:cNvPr>
          <p:cNvSpPr txBox="1"/>
          <p:nvPr/>
        </p:nvSpPr>
        <p:spPr>
          <a:xfrm>
            <a:off x="3089841" y="4368800"/>
            <a:ext cx="25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Describe X in each group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E5B9744-D4C9-4267-8518-446A800D8CD1}"/>
              </a:ext>
            </a:extLst>
          </p:cNvPr>
          <p:cNvCxnSpPr>
            <a:cxnSpLocks/>
            <a:stCxn id="6" idx="2"/>
            <a:endCxn id="23" idx="1"/>
          </p:cNvCxnSpPr>
          <p:nvPr/>
        </p:nvCxnSpPr>
        <p:spPr>
          <a:xfrm rot="16200000" flipH="1">
            <a:off x="1486926" y="2643442"/>
            <a:ext cx="2791946" cy="291732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576C3DC-701C-45EE-A19A-3D8D5CFA6FCE}"/>
              </a:ext>
            </a:extLst>
          </p:cNvPr>
          <p:cNvCxnSpPr>
            <a:cxnSpLocks/>
            <a:stCxn id="8" idx="2"/>
            <a:endCxn id="23" idx="3"/>
          </p:cNvCxnSpPr>
          <p:nvPr/>
        </p:nvCxnSpPr>
        <p:spPr>
          <a:xfrm rot="16200000" flipH="1">
            <a:off x="6566329" y="3926741"/>
            <a:ext cx="2791946" cy="350724"/>
          </a:xfrm>
          <a:prstGeom prst="curvedConnector4">
            <a:avLst>
              <a:gd name="adj1" fmla="val 46693"/>
              <a:gd name="adj2" fmla="val 4653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D48337-C9FD-48C3-9B53-82D9009CE959}"/>
              </a:ext>
            </a:extLst>
          </p:cNvPr>
          <p:cNvSpPr txBox="1"/>
          <p:nvPr/>
        </p:nvSpPr>
        <p:spPr>
          <a:xfrm>
            <a:off x="4341560" y="5313410"/>
            <a:ext cx="379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Estimate </a:t>
            </a:r>
            <a:r>
              <a:rPr lang="en-GB" i="1" dirty="0"/>
              <a:t>effect</a:t>
            </a:r>
            <a:r>
              <a:rPr lang="en-GB" dirty="0"/>
              <a:t> of X on Y</a:t>
            </a:r>
            <a:r>
              <a:rPr lang="en-GB" i="1" dirty="0"/>
              <a:t> </a:t>
            </a:r>
            <a:r>
              <a:rPr lang="en-GB" dirty="0"/>
              <a:t>in each group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D06A1B-8D0B-40F9-8752-6FD8B2A68312}"/>
              </a:ext>
            </a:extLst>
          </p:cNvPr>
          <p:cNvSpPr txBox="1"/>
          <p:nvPr/>
        </p:nvSpPr>
        <p:spPr>
          <a:xfrm>
            <a:off x="5593540" y="6073354"/>
            <a:ext cx="390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Estimate propensity for X</a:t>
            </a:r>
            <a:r>
              <a:rPr lang="en-GB" i="1" dirty="0"/>
              <a:t> </a:t>
            </a:r>
            <a:r>
              <a:rPr lang="en-GB" dirty="0"/>
              <a:t>in each group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7F402660-9BC0-4141-9684-48FE2B969536}"/>
              </a:ext>
            </a:extLst>
          </p:cNvPr>
          <p:cNvCxnSpPr>
            <a:cxnSpLocks/>
            <a:stCxn id="10" idx="2"/>
            <a:endCxn id="35" idx="3"/>
          </p:cNvCxnSpPr>
          <p:nvPr/>
        </p:nvCxnSpPr>
        <p:spPr>
          <a:xfrm rot="5400000">
            <a:off x="8358864" y="3844889"/>
            <a:ext cx="3551890" cy="127437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630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1898</Words>
  <Application>Microsoft Office PowerPoint</Application>
  <PresentationFormat>Widescreen</PresentationFormat>
  <Paragraphs>431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Cambria Math</vt:lpstr>
      <vt:lpstr>Goudy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82</cp:revision>
  <dcterms:created xsi:type="dcterms:W3CDTF">2026-06-08T08:13:18Z</dcterms:created>
  <dcterms:modified xsi:type="dcterms:W3CDTF">2026-07-14T12:55:55Z</dcterms:modified>
</cp:coreProperties>
</file>