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87" r:id="rId5"/>
    <p:sldId id="261" r:id="rId6"/>
    <p:sldId id="262" r:id="rId7"/>
    <p:sldId id="263" r:id="rId8"/>
    <p:sldId id="279" r:id="rId9"/>
    <p:sldId id="288" r:id="rId10"/>
    <p:sldId id="290" r:id="rId11"/>
    <p:sldId id="264" r:id="rId12"/>
    <p:sldId id="289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92" r:id="rId26"/>
    <p:sldId id="291" r:id="rId27"/>
    <p:sldId id="280" r:id="rId28"/>
    <p:sldId id="277" r:id="rId29"/>
    <p:sldId id="278" r:id="rId30"/>
    <p:sldId id="293" r:id="rId31"/>
    <p:sldId id="281" r:id="rId32"/>
    <p:sldId id="282" r:id="rId33"/>
    <p:sldId id="283" r:id="rId34"/>
    <p:sldId id="284" r:id="rId35"/>
    <p:sldId id="286" r:id="rId36"/>
    <p:sldId id="285" r:id="rId37"/>
    <p:sldId id="294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3" autoAdjust="0"/>
    <p:restoredTop sz="96323" autoAdjust="0"/>
  </p:normalViewPr>
  <p:slideViewPr>
    <p:cSldViewPr snapToGrid="0">
      <p:cViewPr>
        <p:scale>
          <a:sx n="100" d="100"/>
          <a:sy n="100" d="100"/>
        </p:scale>
        <p:origin x="456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C93D4-059B-41BF-83DB-4F153157D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97933-D7D6-43B8-BF78-DEF44054F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36244-0C2B-4E4A-8927-D993F2E2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74BE5-E0E3-4FFF-8780-A45D2B74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B471B-3934-4525-A647-95A711D7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77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BE8E-5D8E-467D-ABA2-5103BACE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5ADB-1F8C-4546-A25E-F345B9A68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B0EF-C6BA-4082-A29F-45B8AEB6F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4569-CC87-44AB-9317-D36B8F09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3B94A-F308-4BDE-8B60-AD6B472D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584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8713-DDF9-4EF8-972B-AC251DDF0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7CD37-C185-4581-970C-191681AB7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779A0-C3BF-4F6B-8988-86C73EEF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56F77-CAE1-456E-A9E7-22EF71C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FBE2C-A1A1-4E49-87F5-E6840632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660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AAA3-68D2-4D88-872D-33FDE1EC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8718-62BE-44F3-82C3-B530CE6DB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4E7AB-2A9A-4BCC-8E35-F8F23C211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EBEF8-7060-4EC7-9D9E-8FEE44B0E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3BDAA6-88D4-417C-9E81-3A5D6801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BFE7F-44A5-4F82-AA02-5D2C01AA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7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C85C2-45F2-4C3F-BCB5-8204D864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0B0FD-0032-4B06-8C76-9DF384656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A2F96-321F-4AF8-8CB1-341714918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D98C2-9B11-4AE5-A244-19D3C99A0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804C0-C499-4916-BE61-103F13F5BC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98EE5-9F28-49F1-AB02-D6BDA916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BEFE21-BACE-4356-888A-29AA45E5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B0B4E-943D-47CE-9934-CA042CC1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40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7329-6A6A-40AC-AF0F-635AE6A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88357-6338-46C2-BC69-0D30A40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6A4AE-50B3-4AC0-A94B-3AD39B7BA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7335-BF41-4E0C-B0ED-C05A8D7A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93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FB945-0603-48AB-AF23-EF9583FB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898E3-643E-4813-9E23-A7C18828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9D788-B682-44D0-B3DD-5432B3F0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72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903-75EB-416B-B380-5F797E88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B88FA-4574-4017-9C2D-B092DF410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B5D4E3-E054-4EFB-9A28-7C3647EF3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38727-40CA-4C95-B0C7-9F508C79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DFF9-9CF5-4D31-AC7E-1B18ED00D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C59FA-2BDB-47A4-BCE0-3473023A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3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51D0-BB36-4A9A-A8F0-6270A7FC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1F471-9BDF-41CE-9FB4-8F51255618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17FF8-923B-4DEC-916A-38D67E519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C52BA-82CA-4CD0-805E-3A16D5147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C6D69-0144-4B09-A6D4-9A49334FE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C5F56-402F-4B8A-B73F-835EBF749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8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3C3B-9157-4F8F-B436-4D208A2E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07718-1F3D-4088-8A7F-AFDCF6EA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EDAE7-09A4-45DD-9E37-C5CDBFD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FB3B9-25F0-4BFE-8BEE-E849FECA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F6FA7-F7E5-4E61-A0D7-1E79C137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59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5DE137-CDA7-46D2-BCF4-F1B380DE1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14151-CF74-4F98-A896-E71E0DD0C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D7F8B-C9DD-4158-817D-600DE310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17FD-807F-4F8F-9356-E62F2883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3651-5C4B-4F0B-B7CE-5532A1E2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3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A87E5D-DECD-4575-861B-AD7A7D91C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E502C-A25D-422E-B005-67D32260B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364FC-09D7-4008-BA26-AE790707A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339B-F12E-4CDD-A7C1-5F172545AE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BEC25-F620-485A-B34B-0EEDB8591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1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079EC8E1-FE25-40F3-9F82-8D9E36F51E44}"/>
              </a:ext>
            </a:extLst>
          </p:cNvPr>
          <p:cNvGrpSpPr/>
          <p:nvPr/>
        </p:nvGrpSpPr>
        <p:grpSpPr>
          <a:xfrm>
            <a:off x="2369701" y="2305771"/>
            <a:ext cx="1913467" cy="1913467"/>
            <a:chOff x="1683986" y="164675"/>
            <a:chExt cx="1913467" cy="191346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9FA4218-3F77-4155-9192-C258510D2BC6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05B6DF-17AC-4848-AD31-E9C06DBB0B03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0E2ADB4-FF57-4651-B688-BDEBACDD4730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7506A8-00C5-4551-ADEE-AECEBBEC01F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449192D-1DE6-4E18-A3DD-2EF8A360482C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F5D1674-4461-4C45-A13A-D7EFCBCFC1AB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9614CB8-3729-4C3D-A3E5-163AF3BA1B4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C123A1D-5101-48ED-9467-0F6781F95EB0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66B5167-1307-4C0C-BBCF-897BE841988D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E8CA8-456B-4D5A-A226-7407BE4BF607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A1A771-D0A9-4465-8C2F-88E27A1AC01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F7CE18-4356-416D-BB71-4DC8DEAE50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74E870D-B7A0-4133-9827-3DA3C5B3BD89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D23045-0B8B-4368-B8C8-363D91C6D05E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BB72807-1308-4FAA-8F4A-F4354DBCF32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D544800-206B-4B60-833B-C64205708454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35AE2B-DBDB-4F54-855F-306E7FFD108B}"/>
              </a:ext>
            </a:extLst>
          </p:cNvPr>
          <p:cNvGrpSpPr/>
          <p:nvPr/>
        </p:nvGrpSpPr>
        <p:grpSpPr>
          <a:xfrm>
            <a:off x="7924734" y="2306202"/>
            <a:ext cx="1913467" cy="1913467"/>
            <a:chOff x="4273591" y="2277533"/>
            <a:chExt cx="1913467" cy="1913467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6B4197-C797-445A-9F53-D2992F43FC9C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E6A3AB-4AAB-493C-AC9F-6E0683C35094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F1F96770-5E40-480E-9FFA-AD09574E7A1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4966BFE-E282-49D7-BB30-684D5BA0E9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C46B95B-1B53-4277-BC44-03F17787CFD7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668156E-2EF1-45BC-8520-01ECB865ECB0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ED3F102-ADAD-4091-ABCE-9763CC5A005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86DF79B-9D97-45CC-97C5-AE2473621AA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9F0D4D-7F7E-4A40-96A1-D0E3280E67AA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C18431-EDB3-41BE-A42B-5E504E694DC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3980D59-BC12-4EBB-8B9B-B152520B86DA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7AC3779-1003-454D-8746-374B1A4257E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223B40-BFC4-43F2-81D5-F0EE18BFA559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D7D14A-6DE3-4315-8B27-29A310555C35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5EC4176-F013-4EFF-B313-084D1957CAD9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557D2290-1B20-4499-A679-5969AB56CDF6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DD90D7-E1FE-48D2-BFC4-528AF49087E3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C3470D6-AF79-456A-9CB2-FBA9DEBF4E47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8DF55-F81C-431B-B8EA-3F8D14B55DF6}"/>
              </a:ext>
            </a:extLst>
          </p:cNvPr>
          <p:cNvSpPr txBox="1"/>
          <p:nvPr/>
        </p:nvSpPr>
        <p:spPr>
          <a:xfrm>
            <a:off x="362079" y="116614"/>
            <a:ext cx="5248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populations, two rates</a:t>
            </a:r>
          </a:p>
        </p:txBody>
      </p:sp>
    </p:spTree>
    <p:extLst>
      <p:ext uri="{BB962C8B-B14F-4D97-AF65-F5344CB8AC3E}">
        <p14:creationId xmlns:p14="http://schemas.microsoft.com/office/powerpoint/2010/main" val="132044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7608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Rates can be split into component parts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5192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</p:spTree>
    <p:extLst>
      <p:ext uri="{BB962C8B-B14F-4D97-AF65-F5344CB8AC3E}">
        <p14:creationId xmlns:p14="http://schemas.microsoft.com/office/powerpoint/2010/main" val="397310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AB88DF-89A9-4CCA-BBE1-E4E6C88C07CE}"/>
              </a:ext>
            </a:extLst>
          </p:cNvPr>
          <p:cNvGrpSpPr/>
          <p:nvPr/>
        </p:nvGrpSpPr>
        <p:grpSpPr>
          <a:xfrm>
            <a:off x="8309019" y="91851"/>
            <a:ext cx="4048856" cy="2013008"/>
            <a:chOff x="8309019" y="91851"/>
            <a:chExt cx="4048856" cy="20130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4D16DAE-7A0B-41BE-B661-D4844A38A67D}"/>
                </a:ext>
              </a:extLst>
            </p:cNvPr>
            <p:cNvGrpSpPr/>
            <p:nvPr/>
          </p:nvGrpSpPr>
          <p:grpSpPr>
            <a:xfrm>
              <a:off x="8309019" y="91851"/>
              <a:ext cx="1680546" cy="1136712"/>
              <a:chOff x="7140558" y="558640"/>
              <a:chExt cx="1680546" cy="1136712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9B199AC-4F74-4CD2-BBFC-15852A9AFD09}"/>
                  </a:ext>
                </a:extLst>
              </p:cNvPr>
              <p:cNvGrpSpPr/>
              <p:nvPr/>
            </p:nvGrpSpPr>
            <p:grpSpPr>
              <a:xfrm>
                <a:off x="7684392" y="558640"/>
                <a:ext cx="1136712" cy="1136712"/>
                <a:chOff x="1683986" y="164675"/>
                <a:chExt cx="1913467" cy="1913467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0B3C9769-845C-4971-9E56-369E1607B468}"/>
                    </a:ext>
                  </a:extLst>
                </p:cNvPr>
                <p:cNvSpPr/>
                <p:nvPr/>
              </p:nvSpPr>
              <p:spPr>
                <a:xfrm>
                  <a:off x="1683986" y="164675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A8BFE72-8CB6-4CAB-9224-38119F127C18}"/>
                    </a:ext>
                  </a:extLst>
                </p:cNvPr>
                <p:cNvSpPr/>
                <p:nvPr/>
              </p:nvSpPr>
              <p:spPr>
                <a:xfrm>
                  <a:off x="2104020" y="85679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8C68D1C6-4B20-4CA8-922C-A6C77276304B}"/>
                    </a:ext>
                  </a:extLst>
                </p:cNvPr>
                <p:cNvSpPr/>
                <p:nvPr/>
              </p:nvSpPr>
              <p:spPr>
                <a:xfrm>
                  <a:off x="2299831" y="46996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C3F17476-39D1-4AF0-9A92-EFA68E2E6974}"/>
                    </a:ext>
                  </a:extLst>
                </p:cNvPr>
                <p:cNvSpPr/>
                <p:nvPr/>
              </p:nvSpPr>
              <p:spPr>
                <a:xfrm>
                  <a:off x="3255047" y="86663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7CE38823-9B24-49F4-8432-11B3ED583667}"/>
                    </a:ext>
                  </a:extLst>
                </p:cNvPr>
                <p:cNvSpPr/>
                <p:nvPr/>
              </p:nvSpPr>
              <p:spPr>
                <a:xfrm>
                  <a:off x="2641914" y="1096096"/>
                  <a:ext cx="191069" cy="191069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9D6EDAC6-7E5D-4F80-86E2-EB454927AA02}"/>
                    </a:ext>
                  </a:extLst>
                </p:cNvPr>
                <p:cNvSpPr/>
                <p:nvPr/>
              </p:nvSpPr>
              <p:spPr>
                <a:xfrm>
                  <a:off x="3273642" y="1197292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C29CFAC1-287F-497F-A528-9ED8CAE1816A}"/>
                    </a:ext>
                  </a:extLst>
                </p:cNvPr>
                <p:cNvSpPr/>
                <p:nvPr/>
              </p:nvSpPr>
              <p:spPr>
                <a:xfrm>
                  <a:off x="2283566" y="1606391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5530A9B1-317E-443C-B2BD-BC9D33519125}"/>
                    </a:ext>
                  </a:extLst>
                </p:cNvPr>
                <p:cNvSpPr/>
                <p:nvPr/>
              </p:nvSpPr>
              <p:spPr>
                <a:xfrm>
                  <a:off x="1855025" y="1391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4365E94C-CF29-4E0C-9060-F27C318835AE}"/>
                    </a:ext>
                  </a:extLst>
                </p:cNvPr>
                <p:cNvSpPr/>
                <p:nvPr/>
              </p:nvSpPr>
              <p:spPr>
                <a:xfrm>
                  <a:off x="2974860" y="46006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5C3853D7-02C8-4C32-A55E-BA4D1BE61326}"/>
                    </a:ext>
                  </a:extLst>
                </p:cNvPr>
                <p:cNvSpPr/>
                <p:nvPr/>
              </p:nvSpPr>
              <p:spPr>
                <a:xfrm>
                  <a:off x="2508468" y="1416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5D9DF8EE-CDD0-4819-A083-B7886FAA93BB}"/>
                    </a:ext>
                  </a:extLst>
                </p:cNvPr>
                <p:cNvSpPr/>
                <p:nvPr/>
              </p:nvSpPr>
              <p:spPr>
                <a:xfrm>
                  <a:off x="3021778" y="1582866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BBFC369-F21C-47AA-890F-B102A79D89BD}"/>
                    </a:ext>
                  </a:extLst>
                </p:cNvPr>
                <p:cNvSpPr/>
                <p:nvPr/>
              </p:nvSpPr>
              <p:spPr>
                <a:xfrm>
                  <a:off x="2864077" y="123373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C5EE83BE-1A3A-4928-881B-F82E5476E410}"/>
                    </a:ext>
                  </a:extLst>
                </p:cNvPr>
                <p:cNvSpPr/>
                <p:nvPr/>
              </p:nvSpPr>
              <p:spPr>
                <a:xfrm>
                  <a:off x="2126472" y="11834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BB35838B-8E5D-461C-86AE-3EA2B4A85046}"/>
                    </a:ext>
                  </a:extLst>
                </p:cNvPr>
                <p:cNvSpPr/>
                <p:nvPr/>
              </p:nvSpPr>
              <p:spPr>
                <a:xfrm>
                  <a:off x="2378030" y="80060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6ADC7EA7-F619-45CE-99D7-9385CD666D7D}"/>
                    </a:ext>
                  </a:extLst>
                </p:cNvPr>
                <p:cNvSpPr/>
                <p:nvPr/>
              </p:nvSpPr>
              <p:spPr>
                <a:xfrm>
                  <a:off x="2926243" y="736769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A19C943B-567E-4FFA-8269-AE25DDC10DAF}"/>
                    </a:ext>
                  </a:extLst>
                </p:cNvPr>
                <p:cNvSpPr/>
                <p:nvPr/>
              </p:nvSpPr>
              <p:spPr>
                <a:xfrm>
                  <a:off x="2663146" y="39376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E7F4F2B-DC8E-4A6D-B825-03EDA7C888E6}"/>
                  </a:ext>
                </a:extLst>
              </p:cNvPr>
              <p:cNvSpPr txBox="1"/>
              <p:nvPr/>
            </p:nvSpPr>
            <p:spPr>
              <a:xfrm>
                <a:off x="7140558" y="841712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P1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20F5747-DDAF-48AE-A41B-C2BC7E820C63}"/>
                </a:ext>
              </a:extLst>
            </p:cNvPr>
            <p:cNvGrpSpPr/>
            <p:nvPr/>
          </p:nvGrpSpPr>
          <p:grpSpPr>
            <a:xfrm>
              <a:off x="10224119" y="91851"/>
              <a:ext cx="1677921" cy="1136712"/>
              <a:chOff x="8311644" y="5648422"/>
              <a:chExt cx="1677921" cy="113671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B75B1FDD-C1C1-4030-BB00-F56010E0ACB8}"/>
                  </a:ext>
                </a:extLst>
              </p:cNvPr>
              <p:cNvGrpSpPr/>
              <p:nvPr/>
            </p:nvGrpSpPr>
            <p:grpSpPr>
              <a:xfrm>
                <a:off x="8852853" y="5648422"/>
                <a:ext cx="1136712" cy="1136712"/>
                <a:chOff x="4273591" y="2277533"/>
                <a:chExt cx="1913467" cy="1913467"/>
              </a:xfrm>
            </p:grpSpPr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A5291F3B-A2F3-46E6-974A-918AED808E9D}"/>
                    </a:ext>
                  </a:extLst>
                </p:cNvPr>
                <p:cNvSpPr/>
                <p:nvPr/>
              </p:nvSpPr>
              <p:spPr>
                <a:xfrm>
                  <a:off x="4273591" y="2277533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66E03324-2868-4896-A77F-CBEADF09D617}"/>
                    </a:ext>
                  </a:extLst>
                </p:cNvPr>
                <p:cNvSpPr/>
                <p:nvPr/>
              </p:nvSpPr>
              <p:spPr>
                <a:xfrm>
                  <a:off x="5605955" y="369572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364802FF-5DB4-4BC8-A5C9-40E570333355}"/>
                    </a:ext>
                  </a:extLst>
                </p:cNvPr>
                <p:cNvSpPr/>
                <p:nvPr/>
              </p:nvSpPr>
              <p:spPr>
                <a:xfrm>
                  <a:off x="4716077" y="3296354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BC92EC18-670B-447E-93B9-8296487F083E}"/>
                    </a:ext>
                  </a:extLst>
                </p:cNvPr>
                <p:cNvSpPr/>
                <p:nvPr/>
              </p:nvSpPr>
              <p:spPr>
                <a:xfrm>
                  <a:off x="4972535" y="291225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2DFDB43-A93F-4635-9194-F26528D8FEF2}"/>
                    </a:ext>
                  </a:extLst>
                </p:cNvPr>
                <p:cNvSpPr/>
                <p:nvPr/>
              </p:nvSpPr>
              <p:spPr>
                <a:xfrm>
                  <a:off x="5557046" y="256928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DD88C0F2-B332-40E9-8872-69D77811A28D}"/>
                    </a:ext>
                  </a:extLst>
                </p:cNvPr>
                <p:cNvSpPr/>
                <p:nvPr/>
              </p:nvSpPr>
              <p:spPr>
                <a:xfrm>
                  <a:off x="4873079" y="372554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0092D6D5-4F2F-4325-B740-58C9F005AC34}"/>
                    </a:ext>
                  </a:extLst>
                </p:cNvPr>
                <p:cNvSpPr/>
                <p:nvPr/>
              </p:nvSpPr>
              <p:spPr>
                <a:xfrm>
                  <a:off x="4693625" y="296965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A3134E0-0BF0-4F39-900F-B3305BA5ABFD}"/>
                    </a:ext>
                  </a:extLst>
                </p:cNvPr>
                <p:cNvSpPr/>
                <p:nvPr/>
              </p:nvSpPr>
              <p:spPr>
                <a:xfrm>
                  <a:off x="4889436" y="2582820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473872-9F4C-47DF-BD68-0EC5CBDCF91C}"/>
                    </a:ext>
                  </a:extLst>
                </p:cNvPr>
                <p:cNvSpPr/>
                <p:nvPr/>
              </p:nvSpPr>
              <p:spPr>
                <a:xfrm>
                  <a:off x="5844652" y="297949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600D5289-9484-40DD-A036-7283755F680D}"/>
                    </a:ext>
                  </a:extLst>
                </p:cNvPr>
                <p:cNvSpPr/>
                <p:nvPr/>
              </p:nvSpPr>
              <p:spPr>
                <a:xfrm>
                  <a:off x="5231519" y="320895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C4A1775-D1BA-4573-854F-E64E6146DF8B}"/>
                    </a:ext>
                  </a:extLst>
                </p:cNvPr>
                <p:cNvSpPr/>
                <p:nvPr/>
              </p:nvSpPr>
              <p:spPr>
                <a:xfrm>
                  <a:off x="5863247" y="3310150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39104401-1A9B-4F22-BF20-6B3DBA84DDB1}"/>
                    </a:ext>
                  </a:extLst>
                </p:cNvPr>
                <p:cNvSpPr/>
                <p:nvPr/>
              </p:nvSpPr>
              <p:spPr>
                <a:xfrm>
                  <a:off x="4444630" y="3504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B5E1AF29-5FD2-4501-A255-983F3DEE6083}"/>
                    </a:ext>
                  </a:extLst>
                </p:cNvPr>
                <p:cNvSpPr/>
                <p:nvPr/>
              </p:nvSpPr>
              <p:spPr>
                <a:xfrm>
                  <a:off x="5098073" y="3529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E56A9B20-3A9F-42F6-9178-C6A446BC3CED}"/>
                    </a:ext>
                  </a:extLst>
                </p:cNvPr>
                <p:cNvSpPr/>
                <p:nvPr/>
              </p:nvSpPr>
              <p:spPr>
                <a:xfrm>
                  <a:off x="5453682" y="334659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ABC3BD23-B3C2-4DB9-B136-F7741F5E47FF}"/>
                    </a:ext>
                  </a:extLst>
                </p:cNvPr>
                <p:cNvSpPr/>
                <p:nvPr/>
              </p:nvSpPr>
              <p:spPr>
                <a:xfrm>
                  <a:off x="5515848" y="284962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93AA970-A80E-4986-B6CF-5FCC4334CDD6}"/>
                    </a:ext>
                  </a:extLst>
                </p:cNvPr>
                <p:cNvSpPr/>
                <p:nvPr/>
              </p:nvSpPr>
              <p:spPr>
                <a:xfrm>
                  <a:off x="5252751" y="250662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9D41DC2-9DEB-43B6-B6A8-AFB00DA7F0B3}"/>
                  </a:ext>
                </a:extLst>
              </p:cNvPr>
              <p:cNvSpPr txBox="1"/>
              <p:nvPr/>
            </p:nvSpPr>
            <p:spPr>
              <a:xfrm>
                <a:off x="8311644" y="5931063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P2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F52814-EA2C-4061-93A9-EFEE16F3F81E}"/>
                </a:ext>
              </a:extLst>
            </p:cNvPr>
            <p:cNvSpPr txBox="1"/>
            <p:nvPr/>
          </p:nvSpPr>
          <p:spPr>
            <a:xfrm>
              <a:off x="8863979" y="1366195"/>
              <a:ext cx="34938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Rate = rate of green squares = </a:t>
              </a:r>
              <a:r>
                <a:rPr lang="en-GB" sz="1400" dirty="0" err="1"/>
                <a:t>AxB</a:t>
              </a:r>
              <a:endParaRPr lang="en-GB" sz="1400" dirty="0"/>
            </a:p>
            <a:p>
              <a:r>
                <a:rPr lang="en-GB" sz="1400" dirty="0"/>
                <a:t>A = proportion of squares</a:t>
              </a:r>
            </a:p>
            <a:p>
              <a:r>
                <a:rPr lang="en-GB" sz="1400" dirty="0"/>
                <a:t>B = proportion of squares that are green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85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40316"/>
            <a:ext cx="1031094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F1DC0-0D90-4B3F-992A-57CB563A1F48}"/>
              </a:ext>
            </a:extLst>
          </p:cNvPr>
          <p:cNvSpPr txBox="1"/>
          <p:nvPr/>
        </p:nvSpPr>
        <p:spPr>
          <a:xfrm>
            <a:off x="705394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the same as A in P1? 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758F8-A527-48A3-B81E-78C604ADAE6C}"/>
              </a:ext>
            </a:extLst>
          </p:cNvPr>
          <p:cNvSpPr txBox="1"/>
          <p:nvPr/>
        </p:nvSpPr>
        <p:spPr>
          <a:xfrm>
            <a:off x="6339839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at the average of what it is in P1 and P2?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CD8DB9-7F2E-45F2-8084-A49880E8329D}"/>
              </a:ext>
            </a:extLst>
          </p:cNvPr>
          <p:cNvCxnSpPr/>
          <p:nvPr/>
        </p:nvCxnSpPr>
        <p:spPr>
          <a:xfrm flipH="1">
            <a:off x="3448594" y="2926083"/>
            <a:ext cx="1881052" cy="1390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04966C-2A4E-4C98-826B-6DD2496354D5}"/>
              </a:ext>
            </a:extLst>
          </p:cNvPr>
          <p:cNvCxnSpPr>
            <a:cxnSpLocks/>
          </p:cNvCxnSpPr>
          <p:nvPr/>
        </p:nvCxnSpPr>
        <p:spPr>
          <a:xfrm>
            <a:off x="5660572" y="2926083"/>
            <a:ext cx="3291839" cy="1323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C8A5A89-F7CE-4DC7-960A-CBD1C3A6A5CE}"/>
              </a:ext>
            </a:extLst>
          </p:cNvPr>
          <p:cNvSpPr txBox="1"/>
          <p:nvPr/>
        </p:nvSpPr>
        <p:spPr>
          <a:xfrm>
            <a:off x="362079" y="116614"/>
            <a:ext cx="3703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Need to be specific</a:t>
            </a:r>
          </a:p>
        </p:txBody>
      </p:sp>
    </p:spTree>
    <p:extLst>
      <p:ext uri="{BB962C8B-B14F-4D97-AF65-F5344CB8AC3E}">
        <p14:creationId xmlns:p14="http://schemas.microsoft.com/office/powerpoint/2010/main" val="2050669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/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2000" dirty="0">
                  <a:latin typeface="Goudy Old Style" panose="02020502050305020303" pitchFamily="18" charset="0"/>
                </a:endParaRP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Rates are different partly because of A, and partly because of B. </a:t>
                </a: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We want to be able to figure out how much is because of each</a:t>
                </a: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+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000" dirty="0">
                  <a:latin typeface="Goudy Old Style" panose="02020502050305020303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blipFill>
                <a:blip r:embed="rId2"/>
                <a:stretch>
                  <a:fillRect l="-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57DE68C-4D65-4578-8884-A205C341142D}"/>
              </a:ext>
            </a:extLst>
          </p:cNvPr>
          <p:cNvSpPr txBox="1"/>
          <p:nvPr/>
        </p:nvSpPr>
        <p:spPr>
          <a:xfrm>
            <a:off x="5995850" y="2928546"/>
            <a:ext cx="93198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A-effect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4A550-5F3D-4196-87FE-DF7B832F2670}"/>
              </a:ext>
            </a:extLst>
          </p:cNvPr>
          <p:cNvSpPr txBox="1"/>
          <p:nvPr/>
        </p:nvSpPr>
        <p:spPr>
          <a:xfrm>
            <a:off x="362079" y="116614"/>
            <a:ext cx="3056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8A85FC-361D-47C9-B69C-CFCC3A64A418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1582C-3879-461A-A8FA-18EE628C215C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9D4C94-7F4F-429F-BDE2-6332B1AD42A2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FB9A01-801A-494B-AB13-C64F7282CDEF}"/>
              </a:ext>
            </a:extLst>
          </p:cNvPr>
          <p:cNvSpPr txBox="1"/>
          <p:nvPr/>
        </p:nvSpPr>
        <p:spPr>
          <a:xfrm>
            <a:off x="6217922" y="4434789"/>
            <a:ext cx="1968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B-effect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4466C60-B052-4D34-90D1-7162389FC207}"/>
              </a:ext>
            </a:extLst>
          </p:cNvPr>
          <p:cNvCxnSpPr/>
          <p:nvPr/>
        </p:nvCxnSpPr>
        <p:spPr>
          <a:xfrm flipH="1">
            <a:off x="5556069" y="3297878"/>
            <a:ext cx="439781" cy="411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10B830-3727-4BB5-953C-1A1E9307F894}"/>
              </a:ext>
            </a:extLst>
          </p:cNvPr>
          <p:cNvCxnSpPr/>
          <p:nvPr/>
        </p:nvCxnSpPr>
        <p:spPr>
          <a:xfrm flipH="1" flipV="1">
            <a:off x="6461843" y="4014651"/>
            <a:ext cx="356968" cy="42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74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002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geometrically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8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6E32-D940-45BE-ACC4-CC05AAD72944}"/>
              </a:ext>
            </a:extLst>
          </p:cNvPr>
          <p:cNvSpPr/>
          <p:nvPr/>
        </p:nvSpPr>
        <p:spPr>
          <a:xfrm>
            <a:off x="6096000" y="4876800"/>
            <a:ext cx="1942011" cy="17087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866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</p:spTree>
    <p:extLst>
      <p:ext uri="{BB962C8B-B14F-4D97-AF65-F5344CB8AC3E}">
        <p14:creationId xmlns:p14="http://schemas.microsoft.com/office/powerpoint/2010/main" val="373615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6F993E-F7BA-4D05-A212-6A0F8E4B8C13}"/>
              </a:ext>
            </a:extLst>
          </p:cNvPr>
          <p:cNvSpPr/>
          <p:nvPr/>
        </p:nvSpPr>
        <p:spPr>
          <a:xfrm>
            <a:off x="5867449" y="4772297"/>
            <a:ext cx="2181527" cy="1750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54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A8E8DD-CBF4-4CC1-8C2D-38012CC0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629D39-31FA-41A1-BFEF-7052D88C151C}"/>
              </a:ext>
            </a:extLst>
          </p:cNvPr>
          <p:cNvSpPr/>
          <p:nvPr/>
        </p:nvSpPr>
        <p:spPr>
          <a:xfrm>
            <a:off x="5998012" y="5094514"/>
            <a:ext cx="2129133" cy="16468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83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2B8CD-2BE1-4E70-A090-013C6A54C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84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9FF022-8D76-4DA4-BBA3-98908663C405}"/>
              </a:ext>
            </a:extLst>
          </p:cNvPr>
          <p:cNvSpPr txBox="1"/>
          <p:nvPr/>
        </p:nvSpPr>
        <p:spPr>
          <a:xfrm>
            <a:off x="8194766" y="2949305"/>
            <a:ext cx="3483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ways to get from Rp1 to Rp2</a:t>
            </a:r>
          </a:p>
          <a:p>
            <a:endParaRPr lang="en-GB" dirty="0"/>
          </a:p>
          <a:p>
            <a:r>
              <a:rPr lang="en-GB" dirty="0"/>
              <a:t>But the “effect of moving A1 -&gt; A2”</a:t>
            </a:r>
          </a:p>
          <a:p>
            <a:r>
              <a:rPr lang="en-GB" dirty="0"/>
              <a:t>is very different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1077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two ways to get ∆R, two sets of answers</a:t>
            </a:r>
          </a:p>
        </p:txBody>
      </p:sp>
    </p:spTree>
    <p:extLst>
      <p:ext uri="{BB962C8B-B14F-4D97-AF65-F5344CB8AC3E}">
        <p14:creationId xmlns:p14="http://schemas.microsoft.com/office/powerpoint/2010/main" val="608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A3F3B8-05ED-49EB-97AB-ED8ED0046BE1}"/>
              </a:ext>
            </a:extLst>
          </p:cNvPr>
          <p:cNvSpPr txBox="1"/>
          <p:nvPr/>
        </p:nvSpPr>
        <p:spPr>
          <a:xfrm>
            <a:off x="8789307" y="3429000"/>
            <a:ext cx="307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Substitute in A2 = A1 + (A2-A1)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96786-29C3-424D-8661-0B8D590EF535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160859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4115A-13A2-4592-8D42-8D90B8D9B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452" y="2079572"/>
            <a:ext cx="6087325" cy="44773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718120" y="4149634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0632-4CE7-409E-8800-96A5989EACEB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17031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500406" y="1911532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8BC40-9D78-4E73-92FB-442422B387C9}"/>
              </a:ext>
            </a:extLst>
          </p:cNvPr>
          <p:cNvCxnSpPr>
            <a:cxnSpLocks/>
          </p:cNvCxnSpPr>
          <p:nvPr/>
        </p:nvCxnSpPr>
        <p:spPr>
          <a:xfrm flipH="1">
            <a:off x="6627223" y="2760617"/>
            <a:ext cx="1062446" cy="478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A28D23-A914-425F-BD8D-40817089CF2E}"/>
              </a:ext>
            </a:extLst>
          </p:cNvPr>
          <p:cNvSpPr txBox="1"/>
          <p:nvPr/>
        </p:nvSpPr>
        <p:spPr>
          <a:xfrm>
            <a:off x="362079" y="116614"/>
            <a:ext cx="91619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 (geometrically)</a:t>
            </a:r>
          </a:p>
        </p:txBody>
      </p:sp>
    </p:spTree>
    <p:extLst>
      <p:ext uri="{BB962C8B-B14F-4D97-AF65-F5344CB8AC3E}">
        <p14:creationId xmlns:p14="http://schemas.microsoft.com/office/powerpoint/2010/main" val="1531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8B2890-10D0-4C6E-BE26-BD5186F06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03" y="1302722"/>
            <a:ext cx="4096322" cy="5068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085A5-400D-43E4-9236-63A8F5296E45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509029-864C-4152-BA6A-67F6B81E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382" y="1944584"/>
            <a:ext cx="3450239" cy="44025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11A69B-8D93-48D4-8AFF-41BCCC10CF10}"/>
              </a:ext>
            </a:extLst>
          </p:cNvPr>
          <p:cNvSpPr/>
          <p:nvPr/>
        </p:nvSpPr>
        <p:spPr>
          <a:xfrm>
            <a:off x="3561806" y="1302722"/>
            <a:ext cx="2621280" cy="12837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5EBC0-9D23-4E67-B7E4-058A444E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514" y="2403012"/>
            <a:ext cx="3943900" cy="402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3D995-FB6D-40BB-A57A-5FCA8D61E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773" y="2969623"/>
            <a:ext cx="3692117" cy="1932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E7F21-65BB-4C4F-8204-875D3713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286" y="5025946"/>
            <a:ext cx="1889761" cy="7102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897CA6-494F-4191-982E-CFED9CF4C747}"/>
              </a:ext>
            </a:extLst>
          </p:cNvPr>
          <p:cNvSpPr txBox="1"/>
          <p:nvPr/>
        </p:nvSpPr>
        <p:spPr>
          <a:xfrm>
            <a:off x="8795657" y="2455408"/>
            <a:ext cx="3149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(just to show the simplification)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05040-67C0-4372-AAAF-48E19F202393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856388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DAC111-E7BA-4199-95FF-DBAC3FE23AE8}"/>
              </a:ext>
            </a:extLst>
          </p:cNvPr>
          <p:cNvSpPr txBox="1"/>
          <p:nvPr/>
        </p:nvSpPr>
        <p:spPr>
          <a:xfrm>
            <a:off x="362079" y="116614"/>
            <a:ext cx="71198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 </a:t>
            </a:r>
          </a:p>
        </p:txBody>
      </p:sp>
    </p:spTree>
    <p:extLst>
      <p:ext uri="{BB962C8B-B14F-4D97-AF65-F5344CB8AC3E}">
        <p14:creationId xmlns:p14="http://schemas.microsoft.com/office/powerpoint/2010/main" val="4075313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369EBA5-60A4-4293-8A4A-082A62AE212E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317BC36-870B-43D2-876E-05AF36D3B92A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D83B10-B36B-4055-8768-0615A65FF26C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95CAB7C-5A6F-4E1C-BD22-2E267B922AF1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80F0B3-DC31-40E5-975C-653E6EAFF4E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FF49C7F-B623-4660-90A5-49B0795A87D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31C2EA-DDA2-4814-A6D8-10F81DC5FD3C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4E5AF3-D057-4CDA-89E3-E7B31360A36F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57634B8-D242-4FC5-A2C1-1EC8AA345E4D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5EC4D6-FFFC-4698-BC16-7D04B9222967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6D3F7F-AAD7-44C5-A412-66D008053DFC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152128-DC97-4616-BBAC-F1C90453F49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494234F3-4167-423D-9332-BEB24AA9A1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715C17B-29D0-4C8C-9B00-86EA22EA20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0488B5A-C813-4114-9A32-69582F09829F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63666BF-4C23-4006-8DBD-EC0AD4B06030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331467-F7A0-4819-8AFD-1C5768661540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EF1ABF-47E1-4DE2-AB30-AC5B7344A53F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52BAA5-1DDA-4C98-84E4-8796E16E06B0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8661CC-A921-4F91-8CC0-DA58AEF90FE3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FB15678-8170-44F0-A3E7-D9C99947BB0D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6D78203-B229-4ED0-B2F4-94D1F0FB20CA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0B2A7EF-62EC-4FDB-9194-FAD100488D0E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3597C9-C278-4EBF-B5E6-2CD9BCA5AD86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A832CA-76FC-4089-A7C9-16F145F5510A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F15AA3-91D7-4980-819B-40852F0DD75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F459FD8-DA16-4D99-B2DB-AF5724EBEC33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FF708F-1134-4924-A2FC-092B3A69FA22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33C613-2454-427E-BACA-524EA0947054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824DB35-EAC7-4DE9-B4BD-D0512E4A29D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696BCF2F-9261-468D-A10F-129785ABC2F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B5A96D82-2A89-4FAF-B84D-B64ECBBE51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558FFA-EE66-4449-AA88-9749A9DD82D1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EF8F338-22EB-4516-9879-710C9BBA9D17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384319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3109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b="1" dirty="0">
                <a:latin typeface="Goudy Old Style" panose="02020502050305020303" pitchFamily="18" charset="0"/>
              </a:rPr>
              <a:t>					- A in P2 was the same as A in P1? &lt;&lt;&lt;</a:t>
            </a:r>
            <a:endParaRPr lang="en-GB" sz="2000" b="1" dirty="0"/>
          </a:p>
          <a:p>
            <a:r>
              <a:rPr lang="en-GB" sz="2000" dirty="0">
                <a:latin typeface="Goudy Old Style" panose="02020502050305020303" pitchFamily="18" charset="0"/>
              </a:rPr>
              <a:t>					- A in P2 was at the average of what it is in P1 and P2?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=0.26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ECCB290B-5355-4DEF-B023-E636CB51812C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FE7D811-0766-4DE3-9E5A-97AF79F42741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6A27FF8-1DE7-45D4-9F64-3EF1893D6BD0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36C3D77-47F3-4D05-A44A-E844E7928C2F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6B39C45-F397-413E-9A48-5CF03C18DEDA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AC56D88-51D1-49A8-8BCC-D0990800F33E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764AE0-4DE2-4A0A-B7B1-00518F0DBA0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3CAD974-934B-4004-971F-D6ABF4280C73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E33052A-D605-4E49-9383-C8DD69900066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2C2CF77-59E0-465B-9D6E-E32028EA50A9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A0484DA-E37F-4854-96FC-19C72578EB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F8081657-B949-4CFF-860E-4E95B7F45D33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BF20C5A0-2964-4808-BA86-9027AD8ACC89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F7F63B0-1DF8-4F33-8BD3-C53DE464549F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9B4ACF25-0EBB-48C9-9E74-E6F91C50FD88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BF8B6C6-B895-444B-B258-7E8DBBD92C9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0737BC1-0D34-4B26-B67D-706EEB2C9035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377DF74-EF35-4682-B93F-E1158EFA68EE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DB749717-05EE-4F86-8F60-BFD5F12BD72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CF69873-06AA-428D-B637-9A83FE8F4242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393F81B-6D6A-47A8-A90E-3FA90295AE8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B4FFDB6-4023-4082-8ACB-3950DC475FC8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EB80627-0945-4CFD-A1BD-C437FA422113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AA6CC8D9-EBE0-4B3D-9527-035B27B0957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F9CC682-7717-436B-A355-6AD2F26AEFE6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0882F0D-F3BB-4BC8-965F-0EA9D4272EAA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CAFC498-E5D0-46F5-B84C-3AD1EAC3B80C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487F862-92D5-46D7-BFCB-89956C102369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9FC272-DB91-44D0-81DA-043CC3607566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B76D43E1-942A-423D-87B5-07788EAFEF33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EDF88F1C-737D-4469-BBB3-DB8A2F29C43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1A2624C-BF2B-449A-851B-8E114ABC594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D0FBB64-FCAB-4FA0-AE54-7FDE07145CA8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86AA10-4B5F-43DE-8550-8098909461DE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4286B0CE-1F99-4412-8B20-CD58F5D9F6C1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F654C1-CDD8-4C90-8E26-2DE98A33EFDF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DF98E3D-7C1F-4B3E-B8E5-8FFD6C33379A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D7BFD7-DD4D-40F5-942F-434703EBD7A4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071747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10896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- A in P2 was the same as A in P1? </a:t>
            </a:r>
            <a:endParaRPr lang="en-GB" sz="2000" dirty="0"/>
          </a:p>
          <a:p>
            <a:r>
              <a:rPr lang="en-GB" sz="2000" b="1" dirty="0">
                <a:latin typeface="Goudy Old Style" panose="02020502050305020303" pitchFamily="18" charset="0"/>
              </a:rPr>
              <a:t>					- A in P2 was at the average of what it is in P1 and P2? &lt;&lt;&lt;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</m:e>
                        </m:d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803C988B-66C6-497F-9087-0D37950DEBF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65A2A5BC-6F4D-4E8B-A35D-C8C26411CB7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1B518B4-542E-4AEF-8DE3-7B587A408026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150912B-4FB7-4C3D-80BF-9767D0FC9898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704D8BA-845F-404B-9E91-9E9DF7E4941F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DED9263-CD24-4B35-92FA-B577AB5FB647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C3EB2E0-AE33-49F5-B305-9FFA23DE3870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328B9B4-73BE-4885-B143-7AA42D1361A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851C9A4-5C63-45D7-87EE-0E7523D6C4EC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47F8C4B-D568-4823-A4D2-1ACEE81B88D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85FD985-50EF-45E1-8853-9491AB20B269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8B63493D-7ABF-4E08-9E7C-CBC403E744C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318A0BB-ADF7-4D64-96CE-2F073A750458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6B4EAC-4D26-4E29-8C58-52E5BAD43E6D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6A3DE20-3ABF-433E-9B32-DDDCA357608D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1EF3A7-11AF-495D-95BA-1A91092AD77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39ABA2F-0DBD-493D-AE4B-F4C1A14DF32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F9FD2B3-98E5-4A60-871B-58BF724EA2F9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9F2E22F1-A139-48E2-A862-13E7A9E3EC7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B74FC27-E3C4-4315-AD71-8529342786CF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76ED9E8-14A7-43D3-A633-1DFA9169008A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9202196-74C6-4BC2-AEE6-F451EDE084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0F85895-77B1-44DA-ABD0-CBFC003D93CA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7E72E7F-0CE7-48E9-8EA0-B13FA9EB303F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5F8DD0A-569E-47C8-BC93-E26EEA79290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3950180-3A97-421F-AE89-7F6FCD0DCD9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59F5AF4-3490-43B0-9223-EEE51E2100D4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B4437D0-DB4A-43DC-A2E9-F700D2A6503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EF35CB9-D08D-4EB3-8E88-CF0070E43D10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1355A46F-11F2-4296-8CFE-939F9EAFC2A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72CC7A34-2D8B-4545-8DFC-2709DA0473C4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9AF16BD-8799-456F-BCEC-87C8F87C3C3E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002F6412-E5C5-47AD-973E-27A18314C603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E7416E9-0521-4A26-927F-C9E40C423AE0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B823526C-FD75-41AC-882D-6818027424AF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BA75E0F-0D99-4CED-8C9A-CB019C9580D4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39D5A7-B059-4ED3-BA10-3C2370D2C7B7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2484D5D-E2B0-4CB0-AFFD-CA3E08E41A4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410987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5497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ADC83DF-BB2F-480B-8C4B-130CADACBDD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3DD4B93-ABD2-4EE5-8184-76596B737A9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95FF869-0A23-4214-9226-6B21B0466EC1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7AD6A1-8DEB-4EE4-A11C-3A6CAE83B43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23AAA9E-AAED-49DF-8965-E478E80D21B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4DE8BA6-8E2C-4050-A8DE-4123DF9A16F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2CEFA13-9AA0-4145-9C13-14E35AF9FCD1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048737E2-857E-4609-A0D4-4DE037DABEA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9A0B21F-CB3F-4C06-A1DB-DD449714F7B1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422F367-952E-418A-AA4C-BF0450F26CF1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844B3617-FDCB-40D9-83DC-437AEEAA3BF6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3C4B6BA-1FAB-4497-A64F-DB82D452E19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C61882E-C9B7-445E-88D3-BED07F58D872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8C7CD7E-27CB-4A9A-A7A8-BD62C055243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D16D6DC-9E78-4B5D-91CC-2F08458FC297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22306AD-6C76-401E-BA48-051CC6081A04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7B2FE45-5BCA-402F-B80C-3F539A468273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A137661-0190-411F-BC33-6683064E71AB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B84B037-44E0-4DC5-A33F-0548E314D151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7EE9E41-96CA-4E10-9AA2-FCBD300CFD48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DE87A1-BAFF-4E18-8DFE-36AD82C7619C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002CA5B6-F0AC-4F3B-8B91-2AE618DAEF99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9AE8CF2-3FC1-462C-B796-D9D4A5ACE6D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EB5FCC-26DD-45F2-8149-FDE256409C5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D55718A-EFC5-412F-B2B9-7998DE1A325C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BF5E086-CAB7-4962-83DE-2828A963A7B1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507298-4E38-4ABA-A394-9A98157D006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DE1CBF-6423-4F42-90CA-62B68720FCAA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FFE70C5-29B2-401C-ABA7-A90D2FA2C05E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F705DEA0-43B8-421D-81ED-75941B5FD05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319B917-AFDA-42FC-86C3-7B848BEBE11C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75DC4179-5E85-4F9C-A068-A891FBB5C5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CE38F69-384E-40B9-95CC-85C30DE24F85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8CAFC9A-16D7-4F97-AD99-A94A5177202F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72391E2C-C4B8-4E16-8E43-9168BA3BD635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8DE7BFB-71EC-4581-A0D7-5F7E09F52259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4B1547-F99C-4781-9F40-BB01758554A2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21BD00B-BE5D-4FDC-8618-128674E77793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1483260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314287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5201019" cy="2806522"/>
            <a:chOff x="6918709" y="2041765"/>
            <a:chExt cx="5201019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961764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1194923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109709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5119991" cy="2758059"/>
            <a:chOff x="6887818" y="2063947"/>
            <a:chExt cx="5119991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1091020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859333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5201019" cy="2806522"/>
            <a:chOff x="6918709" y="2041765"/>
            <a:chExt cx="5201019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961764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1194923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691666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14D42F-963A-4EE3-80AE-61E474DA1FD8}"/>
              </a:ext>
            </a:extLst>
          </p:cNvPr>
          <p:cNvGrpSpPr/>
          <p:nvPr/>
        </p:nvGrpSpPr>
        <p:grpSpPr>
          <a:xfrm>
            <a:off x="8309018" y="91850"/>
            <a:ext cx="1680546" cy="1136712"/>
            <a:chOff x="7140558" y="558640"/>
            <a:chExt cx="1680546" cy="1136712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9971E90C-CE3F-4E8C-887C-5146AC6CE7A1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A4764A6C-C62D-4D3A-BD93-29120E7CFCCB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2A7D23B-8DAC-4302-A67A-48243AC83F6D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74AF94B-2084-405C-B9D4-31561781F446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0DBE1AB8-1DEE-431F-944F-769EB3FE5919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A57FA2F6-C7AC-4D08-95E4-24DCC97F36D0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8502667C-6F78-4BB8-8875-E49E19724681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D05544F-291D-4070-BE4E-4DFE854C01CE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B9B18ABB-3A1C-4448-895E-A01578C81C7E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9B9BF3B1-7570-4DB8-AEC5-5E32A4C9D0C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39930E5-7771-47B3-A097-615EC1DB4298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ADC2770D-3311-4C89-9739-CC916D5BF268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1FCB38-A4DF-41DA-9808-CC73F19A1AB4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03B4B95-4A72-4F91-BDF0-ACA512CDB7D9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324C03A7-05F1-42B9-99DD-003671D66953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5B1AFFF-FF76-47D0-BEB4-8E855F07593A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00D056BE-55E9-4BA4-80A7-488548E768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BB3CFCA-7291-4A6C-A084-4453A469985B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51B7E1-EF2D-4F64-B0B9-1E75831AA836}"/>
              </a:ext>
            </a:extLst>
          </p:cNvPr>
          <p:cNvGrpSpPr/>
          <p:nvPr/>
        </p:nvGrpSpPr>
        <p:grpSpPr>
          <a:xfrm>
            <a:off x="8311643" y="5648421"/>
            <a:ext cx="1677921" cy="1136712"/>
            <a:chOff x="8311644" y="5648422"/>
            <a:chExt cx="1677921" cy="1136712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ADF084D-D40B-4E7A-828A-5A645FBF5CE6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A14D4F9F-A1F7-42AD-A329-C575E2CAC768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C020BB-27BE-4461-9697-D7FD4284120B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72A9E8B-1452-4E89-99AF-3DEC89754950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D0F98FC-6FE6-4165-B6BA-65D75934FF9E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ED0FE55-91A7-4F0B-98F3-7B015E41D1DE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D8D714C-82F7-4F45-AE99-CEA9AD28343C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B8866960-228C-4EEB-B4FB-FE59AA8C6B62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6D4CDCA-14E9-4891-924A-829D5B0083C3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F36A414-BC22-459C-834D-460EBFE7B817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BE38A31-7C71-4B97-AB8D-8A3AB1E19630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B6EA6316-C149-4817-8DB5-71F5A1C41B6D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07FEFCFA-2D5D-47AE-9627-821819F89013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2A997C2-55D7-4FBC-B7AD-E4BA753C237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AC2064-C032-4E88-8626-F46575C8A967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6386945-8FF6-4240-B218-5B79D488B053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348D3801-069D-4DAA-BFEB-65D864E848D6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56EFA2E-00FB-4C37-BF35-FC2B4960CCCB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0.1333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5119991" cy="2758059"/>
            <a:chOff x="6887818" y="2063947"/>
            <a:chExt cx="5119991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1091020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859333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5201019" cy="2806522"/>
            <a:chOff x="6918709" y="2041765"/>
            <a:chExt cx="5201019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961764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1194923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/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0.0667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0.2667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TextBox 150">
            <a:extLst>
              <a:ext uri="{FF2B5EF4-FFF2-40B4-BE49-F238E27FC236}">
                <a16:creationId xmlns:a16="http://schemas.microsoft.com/office/drawing/2014/main" id="{29198E74-82C0-47B2-8174-B59DCBCAD896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1982346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EACC33A-B3E3-4723-8BA5-BC9318AD7D9F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C9CB3DE-61EB-457C-A8FE-2CE56219D075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F04C783-DD47-4988-9A38-412A5EBD67A0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E032AF1-92AC-4573-82EE-408B7C4A7BE9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5818CB9-D000-49FC-9E0F-AFC5E91554CC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2D14FB7-4DF1-421B-B09B-F6E48C5A982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9B366BA-920C-461A-A06A-76F0CDD1E4E6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1D5F563-874C-40DC-BAC8-8161AB3D58F7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720F7A2-29E4-4547-9A20-49DA53B84A4D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59FAACF-B834-4FF8-9963-5453AFD51BA8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703A928-748D-4B67-BB8A-B4D866ECF50C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6C71913-E7F3-4E12-BDF4-EDEA79843065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B1E20C00-AAB4-41C4-845F-C547A27EB809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8D84906-1A59-4541-99E0-84A7C9A26F5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AD42CAB-B028-48D0-9AD3-0E894AD93B82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B4DE4C4-ADAE-47B5-A53B-4FE6774FFB98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A221F1-8D13-40C3-9CA0-E2050E63C2F2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2CC0E04-5C9E-4A4E-B0F5-644F635ABE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D863B60-288D-42C4-AA5C-8E72A53B4B6A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90105A3-6A2F-4EDE-A89A-09322E0EB2F8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369B862-D9D9-4DE9-92FB-8086DDB3E7E5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2DB08FF-C118-45A2-A7DA-C7064422F131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FD47314-A1B1-40C3-881C-9FCC4D947A2D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3B21CC8-8813-4F75-94B1-E29E347D5F9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DA00FA0-E363-4A14-8048-9301B56E560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23553B4-3DA2-4125-ABD2-E4C13A3ADBB8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9A530E3-1B92-41FD-B1FD-79C92EC7AF12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152071A-6E05-4C14-B428-B415C88AB24A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98929D9-E133-4249-AAE8-D331A89B69B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BC67AA-CEC4-44F6-B0D1-68023A7575E6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CF31A0-7587-4114-872C-98ED0C4C0C96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E96E0B3D-B6FE-4F38-8A4A-C153B1C65771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A9BC69-BD3A-4844-BFE3-42A865295356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539BB5F-2F19-4581-8865-6D7FB8CB975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94E2826-E2D7-4BE7-B5C0-AD178CFA1E6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F874558-BDAD-47C3-B24D-FED890444666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C5BE61C-2C41-4872-819C-3022A3B2D0C3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75043A-92CF-49CD-B56B-591462B639C5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BF8643-38DD-46C1-B805-A53254FA0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886080A-2B3F-4026-9144-A4880114FEED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A9A4B3-878A-4A5B-9B3D-849678175FF4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27250A4-3D52-4B40-AA4F-9A767B7649C4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A01D397-1EE3-4852-8BBD-5561892CCD7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76BEFC2-BD16-4233-A899-66C0A16AE284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E0CC73F5-3327-4594-BABE-D2E36DFC766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1950686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138970-B2F9-4C98-9090-26B7D4A935EC}"/>
              </a:ext>
            </a:extLst>
          </p:cNvPr>
          <p:cNvCxnSpPr/>
          <p:nvPr/>
        </p:nvCxnSpPr>
        <p:spPr>
          <a:xfrm>
            <a:off x="11785600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75D21F-428A-4DF3-AE46-DB399C03FC73}"/>
                  </a:ext>
                </a:extLst>
              </p:cNvPr>
              <p:cNvSpPr txBox="1"/>
              <p:nvPr/>
            </p:nvSpPr>
            <p:spPr>
              <a:xfrm rot="5400000">
                <a:off x="11434999" y="3222222"/>
                <a:ext cx="113011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75D21F-428A-4DF3-AE46-DB399C03F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434999" y="3222222"/>
                <a:ext cx="11301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2687142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138970-B2F9-4C98-9090-26B7D4A935EC}"/>
              </a:ext>
            </a:extLst>
          </p:cNvPr>
          <p:cNvCxnSpPr/>
          <p:nvPr/>
        </p:nvCxnSpPr>
        <p:spPr>
          <a:xfrm>
            <a:off x="11785600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75D21F-428A-4DF3-AE46-DB399C03FC73}"/>
                  </a:ext>
                </a:extLst>
              </p:cNvPr>
              <p:cNvSpPr txBox="1"/>
              <p:nvPr/>
            </p:nvSpPr>
            <p:spPr>
              <a:xfrm rot="5400000">
                <a:off x="11434999" y="3222222"/>
                <a:ext cx="113011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75D21F-428A-4DF3-AE46-DB399C03F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434999" y="3222222"/>
                <a:ext cx="11301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/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0.233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=70%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=30%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188314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14225D3-274A-4A33-A814-89370CD005D9}"/>
              </a:ext>
            </a:extLst>
          </p:cNvPr>
          <p:cNvGrpSpPr/>
          <p:nvPr/>
        </p:nvGrpSpPr>
        <p:grpSpPr>
          <a:xfrm>
            <a:off x="2374051" y="1530950"/>
            <a:ext cx="1913467" cy="1913467"/>
            <a:chOff x="1683986" y="164675"/>
            <a:chExt cx="1913467" cy="1913467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59E99959-C139-4170-9DC5-5F772CC6ECD0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3AD2B8D-AE7D-4D87-B7A1-1BDF3D5C2FC2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954B8B0-B4C2-4A68-83F7-73F3C5E9E205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14ED80A-1D77-4598-A364-8A715AC09A06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75AFD6EA-4128-4DC7-8585-7BBD9DC2DCD3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E151040-665D-450A-8FCF-0D13161F663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FE1CF720-2DF7-441A-942E-A6F535BCFE5A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E3FCC6-22AE-4049-88F1-62F4E3BE453E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526A135-AF2B-43D6-934D-80481C999B86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05BFA98D-E6C2-4D69-9409-2B3F892BBF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1BE4155-D59D-44C0-8F69-9D46ED92CD3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4111AA0A-5DF2-4253-AD06-9E7A575C860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5659F939-51D3-44B7-B388-F8B0DCCEE8B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B693FE6-F824-4F76-84BB-A89FF171A04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14D3809-1BC1-4710-A26F-435B20E58569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398BEE3-D87A-4D98-8F96-D59AC364E199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936FBB9-4226-4CED-B36F-22195A00B981}"/>
              </a:ext>
            </a:extLst>
          </p:cNvPr>
          <p:cNvGrpSpPr/>
          <p:nvPr/>
        </p:nvGrpSpPr>
        <p:grpSpPr>
          <a:xfrm>
            <a:off x="7929084" y="1531381"/>
            <a:ext cx="1913467" cy="1913467"/>
            <a:chOff x="4273591" y="2277533"/>
            <a:chExt cx="1913467" cy="1913467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5FE9779-B7A2-4910-B929-5FCF1177335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9B2DD1B-FF1F-4063-901A-7F2A0A45C28D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71E54171-560D-4999-A132-FF43329CFCAF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462D13D-0EEB-41D5-BF53-D7DD3F46CC11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81147B7-F1D4-4C17-972B-FDD3D8916F6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46B9E42-F404-491C-B520-121EB89E471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5A5838F-5A4D-4ACE-91A1-D164BE10309F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56A9EDB-4A23-45ED-8404-55340A75DF87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4F79285-CDCB-4F4B-B1AD-9730695FD93B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CD6E680-3FC4-47C2-8A70-0A27F12EA4D8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D1E2F3E-96AB-479A-A8B1-0F763647B8E1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FF49439-872B-4CC9-B2AB-661021D9226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F1EBFCA-CBA2-4B39-87BF-620859C338B8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66317D9-E460-41AA-982A-7261FF830DF9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E6EF7F86-83B5-4A95-B5E2-C00C39A9D2BC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39D489E-045D-46FD-8D67-383261A5D60C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004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2x2 worked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02735A-A0FE-4D64-A463-AF990BC0EA8B}"/>
              </a:ext>
            </a:extLst>
          </p:cNvPr>
          <p:cNvSpPr txBox="1"/>
          <p:nvPr/>
        </p:nvSpPr>
        <p:spPr>
          <a:xfrm>
            <a:off x="590149" y="5645158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coloured shapes x </a:t>
            </a:r>
            <a:br>
              <a:rPr lang="en-GB" sz="1800" dirty="0"/>
            </a:br>
            <a:r>
              <a:rPr lang="en-GB" sz="1800" dirty="0"/>
              <a:t>proportion of coloured shapes that are squares x </a:t>
            </a:r>
            <a:br>
              <a:rPr lang="en-GB" sz="1800" dirty="0"/>
            </a:br>
            <a:r>
              <a:rPr lang="en-GB" sz="1800" dirty="0"/>
              <a:t>proportion of coloured squares that are green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0E8DF9D-DB64-4E84-A41D-85B2CBB287D7}"/>
              </a:ext>
            </a:extLst>
          </p:cNvPr>
          <p:cNvGrpSpPr/>
          <p:nvPr/>
        </p:nvGrpSpPr>
        <p:grpSpPr>
          <a:xfrm>
            <a:off x="4565405" y="4284895"/>
            <a:ext cx="2289726" cy="1157051"/>
            <a:chOff x="4460901" y="4755159"/>
            <a:chExt cx="2289726" cy="1157051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123300B-2651-43D2-BDD9-B57C45FF786C}"/>
                </a:ext>
              </a:extLst>
            </p:cNvPr>
            <p:cNvGrpSpPr/>
            <p:nvPr/>
          </p:nvGrpSpPr>
          <p:grpSpPr>
            <a:xfrm>
              <a:off x="5154465" y="5479441"/>
              <a:ext cx="1596162" cy="432769"/>
              <a:chOff x="2148455" y="5051154"/>
              <a:chExt cx="1596162" cy="432769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639355D-41E0-4144-8931-4D9ABFF7D6C8}"/>
                  </a:ext>
                </a:extLst>
              </p:cNvPr>
              <p:cNvSpPr txBox="1"/>
              <p:nvPr/>
            </p:nvSpPr>
            <p:spPr>
              <a:xfrm>
                <a:off x="3434791" y="520692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/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en-GB" dirty="0"/>
                      <a:t>    </a:t>
                    </a:r>
                    <a14:m>
                      <m:oMath xmlns:m="http://schemas.openxmlformats.org/officeDocument/2006/math">
                        <m:r>
                          <a:rPr lang="en-GB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a14:m>
                    <a:endParaRPr lang="en-GB" dirty="0"/>
                  </a:p>
                </p:txBody>
              </p:sp>
            </mc:Choice>
            <mc:Fallback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1AF8B2A-6CC9-4B2A-9FD1-6C8D3D1F309A}"/>
                  </a:ext>
                </a:extLst>
              </p:cNvPr>
              <p:cNvSpPr txBox="1"/>
              <p:nvPr/>
            </p:nvSpPr>
            <p:spPr>
              <a:xfrm>
                <a:off x="2483578" y="519267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9CF00B0-145B-49F5-8721-D112AC2197C2}"/>
                  </a:ext>
                </a:extLst>
              </p:cNvPr>
              <p:cNvSpPr/>
              <p:nvPr/>
            </p:nvSpPr>
            <p:spPr>
              <a:xfrm>
                <a:off x="2547954" y="507285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D1E40CFA-83DE-468F-B75F-4A99E08AB98E}"/>
                  </a:ext>
                </a:extLst>
              </p:cNvPr>
              <p:cNvSpPr/>
              <p:nvPr/>
            </p:nvSpPr>
            <p:spPr>
              <a:xfrm>
                <a:off x="2435363" y="527997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44CDA1E-7A10-4D76-BAB6-A8677B43BA63}"/>
                  </a:ext>
                </a:extLst>
              </p:cNvPr>
              <p:cNvSpPr/>
              <p:nvPr/>
            </p:nvSpPr>
            <p:spPr>
              <a:xfrm>
                <a:off x="2675020" y="527997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EF5E93C-8DA8-4880-B77E-E0BB94EB0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5363" y="523582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8E6D3EA-1A0A-45EC-B0C3-7301B7EFE25A}"/>
                  </a:ext>
                </a:extLst>
              </p:cNvPr>
              <p:cNvSpPr/>
              <p:nvPr/>
            </p:nvSpPr>
            <p:spPr>
              <a:xfrm>
                <a:off x="3010916" y="5075379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0C0D34A-E83B-401A-AF74-154742FB405D}"/>
                  </a:ext>
                </a:extLst>
              </p:cNvPr>
              <p:cNvSpPr/>
              <p:nvPr/>
            </p:nvSpPr>
            <p:spPr>
              <a:xfrm>
                <a:off x="3009991" y="5279976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F3218CE-FCD9-4485-B5EA-F8AFA2F816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5704" y="5238343"/>
                <a:ext cx="1550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571508-6263-4C5B-98A3-065D2E015A4A}"/>
                  </a:ext>
                </a:extLst>
              </p:cNvPr>
              <p:cNvSpPr/>
              <p:nvPr/>
            </p:nvSpPr>
            <p:spPr>
              <a:xfrm>
                <a:off x="3499167" y="5087105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6E73856-CEEB-4448-9667-34DB9E6D62F8}"/>
                  </a:ext>
                </a:extLst>
              </p:cNvPr>
              <p:cNvSpPr/>
              <p:nvPr/>
            </p:nvSpPr>
            <p:spPr>
              <a:xfrm>
                <a:off x="3386576" y="529422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B53D1DA1-407E-4FA1-815F-38CBCCBECA95}"/>
                  </a:ext>
                </a:extLst>
              </p:cNvPr>
              <p:cNvSpPr/>
              <p:nvPr/>
            </p:nvSpPr>
            <p:spPr>
              <a:xfrm>
                <a:off x="3626233" y="529422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05A5F93-0C7B-4F85-A29E-11AC10FA2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6576" y="525007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BF86D86-251F-4BF2-9D69-71785CC0F902}"/>
                </a:ext>
              </a:extLst>
            </p:cNvPr>
            <p:cNvGrpSpPr/>
            <p:nvPr/>
          </p:nvGrpSpPr>
          <p:grpSpPr>
            <a:xfrm>
              <a:off x="4663850" y="4755159"/>
              <a:ext cx="1564332" cy="684862"/>
              <a:chOff x="4601337" y="304596"/>
              <a:chExt cx="1564332" cy="684862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EAC8C7FF-ECF1-45B9-9F6C-534BA18005B3}"/>
                  </a:ext>
                </a:extLst>
              </p:cNvPr>
              <p:cNvCxnSpPr>
                <a:cxnSpLocks/>
                <a:endCxn id="113" idx="0"/>
              </p:cNvCxnSpPr>
              <p:nvPr/>
            </p:nvCxnSpPr>
            <p:spPr>
              <a:xfrm>
                <a:off x="4765780" y="701898"/>
                <a:ext cx="58819" cy="2710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08BA50F0-D8FC-4C32-8C2A-AD4EBA469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2680" y="660421"/>
                <a:ext cx="2779" cy="3290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E389C0-A92B-4122-B4DB-59D53BF01780}"/>
                  </a:ext>
                </a:extLst>
              </p:cNvPr>
              <p:cNvSpPr txBox="1"/>
              <p:nvPr/>
            </p:nvSpPr>
            <p:spPr>
              <a:xfrm>
                <a:off x="4601337" y="304596"/>
                <a:ext cx="1564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        B           C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72FF9F2-80FA-415C-B28C-69F0259BDFD4}"/>
                </a:ext>
              </a:extLst>
            </p:cNvPr>
            <p:cNvGrpSpPr/>
            <p:nvPr/>
          </p:nvGrpSpPr>
          <p:grpSpPr>
            <a:xfrm>
              <a:off x="4460901" y="5423500"/>
              <a:ext cx="759809" cy="474460"/>
              <a:chOff x="4095634" y="5397504"/>
              <a:chExt cx="759809" cy="474460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0CB2BB0-D316-487F-B3B5-2B85D4D63DBD}"/>
                  </a:ext>
                </a:extLst>
              </p:cNvPr>
              <p:cNvSpPr txBox="1"/>
              <p:nvPr/>
            </p:nvSpPr>
            <p:spPr>
              <a:xfrm>
                <a:off x="4131921" y="5594965"/>
                <a:ext cx="71627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+    +</a:t>
                </a: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A1782848-F415-4624-BA40-0294C5FE94A7}"/>
                  </a:ext>
                </a:extLst>
              </p:cNvPr>
              <p:cNvSpPr/>
              <p:nvPr/>
            </p:nvSpPr>
            <p:spPr>
              <a:xfrm>
                <a:off x="4095634" y="5686562"/>
                <a:ext cx="118384" cy="119819"/>
              </a:xfrm>
              <a:prstGeom prst="ellipse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E295526-A4D3-45C2-80A9-AAEE60E605F7}"/>
                  </a:ext>
                </a:extLst>
              </p:cNvPr>
              <p:cNvSpPr/>
              <p:nvPr/>
            </p:nvSpPr>
            <p:spPr>
              <a:xfrm>
                <a:off x="4311436" y="5686561"/>
                <a:ext cx="118384" cy="119819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F5CC439-CF72-4D12-BB06-F0B5DB109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5634" y="5642406"/>
                <a:ext cx="7598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D1F01B74-8CBD-4350-B5D8-D05F6E56C8B7}"/>
                  </a:ext>
                </a:extLst>
              </p:cNvPr>
              <p:cNvSpPr/>
              <p:nvPr/>
            </p:nvSpPr>
            <p:spPr>
              <a:xfrm>
                <a:off x="4525234" y="56844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11D96809-705A-40A4-B51C-DDB5B7B1C081}"/>
                  </a:ext>
                </a:extLst>
              </p:cNvPr>
              <p:cNvSpPr/>
              <p:nvPr/>
            </p:nvSpPr>
            <p:spPr>
              <a:xfrm>
                <a:off x="4737059" y="56844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7A3A726-6F30-458B-A169-33B904843A0D}"/>
                  </a:ext>
                </a:extLst>
              </p:cNvPr>
              <p:cNvSpPr txBox="1"/>
              <p:nvPr/>
            </p:nvSpPr>
            <p:spPr>
              <a:xfrm>
                <a:off x="4347932" y="5397504"/>
                <a:ext cx="347825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5067AF2D-058F-49D1-A4E9-B8D189856475}"/>
                  </a:ext>
                </a:extLst>
              </p:cNvPr>
              <p:cNvSpPr/>
              <p:nvPr/>
            </p:nvSpPr>
            <p:spPr>
              <a:xfrm>
                <a:off x="4311645" y="54891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D0C9224F-26A0-41F5-9066-A91BA09659CA}"/>
                  </a:ext>
                </a:extLst>
              </p:cNvPr>
              <p:cNvSpPr/>
              <p:nvPr/>
            </p:nvSpPr>
            <p:spPr>
              <a:xfrm>
                <a:off x="4527447" y="54891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</p:grp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6102D7-2AB9-4998-8AF6-1027849E77A9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5446016" y="5124491"/>
              <a:ext cx="167141" cy="262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7437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313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62C516-32DF-4345-B2E2-501A3F0A193C}"/>
              </a:ext>
            </a:extLst>
          </p:cNvPr>
          <p:cNvSpPr/>
          <p:nvPr/>
        </p:nvSpPr>
        <p:spPr>
          <a:xfrm>
            <a:off x="8018855" y="3969488"/>
            <a:ext cx="985808" cy="322999"/>
          </a:xfrm>
          <a:prstGeom prst="rect">
            <a:avLst/>
          </a:prstGeom>
          <a:noFill/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8AD3F-B233-4197-9673-A7EF90AA8EBD}"/>
              </a:ext>
            </a:extLst>
          </p:cNvPr>
          <p:cNvSpPr/>
          <p:nvPr/>
        </p:nvSpPr>
        <p:spPr>
          <a:xfrm>
            <a:off x="6599562" y="4749854"/>
            <a:ext cx="1016713" cy="322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77EC67-58BA-4747-BF0B-2937501DF723}"/>
              </a:ext>
            </a:extLst>
          </p:cNvPr>
          <p:cNvSpPr/>
          <p:nvPr/>
        </p:nvSpPr>
        <p:spPr>
          <a:xfrm>
            <a:off x="2673532" y="4571216"/>
            <a:ext cx="1183529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25B9F5-0A5C-4B5C-ABEE-4D897940FFA3}"/>
              </a:ext>
            </a:extLst>
          </p:cNvPr>
          <p:cNvSpPr/>
          <p:nvPr/>
        </p:nvSpPr>
        <p:spPr>
          <a:xfrm>
            <a:off x="4067690" y="3206541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C53CA2-F8FD-479D-A23E-2CCCF35C6BC5}"/>
              </a:ext>
            </a:extLst>
          </p:cNvPr>
          <p:cNvSpPr/>
          <p:nvPr/>
        </p:nvSpPr>
        <p:spPr>
          <a:xfrm>
            <a:off x="5357968" y="3241372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3E310-B5DF-4677-B8F5-1B21240083FE}"/>
              </a:ext>
            </a:extLst>
          </p:cNvPr>
          <p:cNvSpPr txBox="1"/>
          <p:nvPr/>
        </p:nvSpPr>
        <p:spPr>
          <a:xfrm>
            <a:off x="362079" y="1062570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We end up with pairwise interactions of A*B, A*C, B*C, </a:t>
            </a:r>
            <a:r>
              <a:rPr lang="en-GB" dirty="0"/>
              <a:t>and the three-way interaction A*B*C.  </a:t>
            </a:r>
          </a:p>
          <a:p>
            <a:endParaRPr lang="en-GB" dirty="0"/>
          </a:p>
          <a:p>
            <a:r>
              <a:rPr lang="en-GB" dirty="0"/>
              <a:t>Note that starting/ending combinations, e.g.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1</a:t>
            </a:r>
            <a:r>
              <a:rPr lang="en-GB" dirty="0"/>
              <a:t> or A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2</a:t>
            </a:r>
            <a:r>
              <a:rPr lang="en-GB" dirty="0"/>
              <a:t> arise more frequently than mixed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2 </a:t>
            </a:r>
            <a:r>
              <a:rPr lang="en-GB" dirty="0"/>
              <a:t>…</a:t>
            </a:r>
            <a:endParaRPr lang="en-GB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3063233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523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Das Gupta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AE955-8726-440F-A981-65C345CFF3E8}"/>
              </a:ext>
            </a:extLst>
          </p:cNvPr>
          <p:cNvGrpSpPr/>
          <p:nvPr/>
        </p:nvGrpSpPr>
        <p:grpSpPr>
          <a:xfrm>
            <a:off x="1018903" y="1568234"/>
            <a:ext cx="6484324" cy="4420217"/>
            <a:chOff x="2255520" y="1933994"/>
            <a:chExt cx="6484324" cy="442021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611169-C731-42B2-8201-237C08115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3152" y="1933994"/>
              <a:ext cx="5496692" cy="4420217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8EF815-420C-4341-98A3-3162C09B589F}"/>
                </a:ext>
              </a:extLst>
            </p:cNvPr>
            <p:cNvSpPr/>
            <p:nvPr/>
          </p:nvSpPr>
          <p:spPr>
            <a:xfrm>
              <a:off x="2255520" y="5059680"/>
              <a:ext cx="5294811" cy="6008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212348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786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{</a:t>
            </a:r>
            <a:r>
              <a:rPr lang="en-GB" sz="3600" b="1" dirty="0" err="1">
                <a:latin typeface="Goudy Old Style" panose="02020502050305020303" pitchFamily="18" charset="0"/>
              </a:rPr>
              <a:t>DasGuptR</a:t>
            </a:r>
            <a:r>
              <a:rPr lang="en-GB" sz="3600" b="1" dirty="0">
                <a:latin typeface="Goudy Old Style" panose="02020502050305020303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96128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F4182E5A-7568-4BF7-B73B-918D6D99D64D}"/>
              </a:ext>
            </a:extLst>
          </p:cNvPr>
          <p:cNvSpPr txBox="1"/>
          <p:nvPr/>
        </p:nvSpPr>
        <p:spPr>
          <a:xfrm>
            <a:off x="696368" y="1965181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2DDA77-A474-4FD9-8A0C-7B1C31DC281D}"/>
              </a:ext>
            </a:extLst>
          </p:cNvPr>
          <p:cNvSpPr txBox="1"/>
          <p:nvPr/>
        </p:nvSpPr>
        <p:spPr>
          <a:xfrm>
            <a:off x="5657081" y="1964174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701385" y="1118982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868718" y="1182327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2" y="2064743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5" y="238231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98619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F4182E5A-7568-4BF7-B73B-918D6D99D64D}"/>
              </a:ext>
            </a:extLst>
          </p:cNvPr>
          <p:cNvSpPr txBox="1"/>
          <p:nvPr/>
        </p:nvSpPr>
        <p:spPr>
          <a:xfrm>
            <a:off x="696368" y="1965181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2DDA77-A474-4FD9-8A0C-7B1C31DC281D}"/>
              </a:ext>
            </a:extLst>
          </p:cNvPr>
          <p:cNvSpPr txBox="1"/>
          <p:nvPr/>
        </p:nvSpPr>
        <p:spPr>
          <a:xfrm>
            <a:off x="5657081" y="1964174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701385" y="1118982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868718" y="1182327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2" y="2064743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5" y="238231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B13DF629-CA3B-4362-8445-40968E5B3748}"/>
              </a:ext>
            </a:extLst>
          </p:cNvPr>
          <p:cNvGrpSpPr/>
          <p:nvPr/>
        </p:nvGrpSpPr>
        <p:grpSpPr>
          <a:xfrm>
            <a:off x="3002425" y="3725324"/>
            <a:ext cx="1663813" cy="923330"/>
            <a:chOff x="2601577" y="4247292"/>
            <a:chExt cx="1663813" cy="923330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1A5FED6B-522A-4087-9B34-CD1C055F2288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8</a:t>
              </a:r>
            </a:p>
            <a:p>
              <a:r>
                <a:rPr lang="en-GB" dirty="0"/>
                <a:t>3	7</a:t>
              </a:r>
            </a:p>
            <a:p>
              <a:r>
                <a:rPr lang="en-GB" dirty="0"/>
                <a:t>3	1</a:t>
              </a:r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D2C5C4C4-BC34-4EF5-9291-23943A9BF40F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6013DCAB-2DD6-4DDF-B906-54DA0F0F5FD9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F884129-FBD8-4853-A6C7-7FC9DA27AA63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3" name="Isosceles Triangle 112">
              <a:extLst>
                <a:ext uri="{FF2B5EF4-FFF2-40B4-BE49-F238E27FC236}">
                  <a16:creationId xmlns:a16="http://schemas.microsoft.com/office/drawing/2014/main" id="{0D06DFF3-52C0-44FE-AB27-B950AC4980F0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FE153B3F-7AA8-448E-9BCB-8CDE7101E79E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4361E403-091A-402D-8FA4-F814041BFB07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B1D4448-4260-47AB-A0EE-FE236F31A751}"/>
              </a:ext>
            </a:extLst>
          </p:cNvPr>
          <p:cNvGrpSpPr/>
          <p:nvPr/>
        </p:nvGrpSpPr>
        <p:grpSpPr>
          <a:xfrm>
            <a:off x="8269267" y="3740638"/>
            <a:ext cx="1663813" cy="923330"/>
            <a:chOff x="2601577" y="4247292"/>
            <a:chExt cx="1663813" cy="923330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7B09D31-AFE7-473C-90E5-39E7F0E59292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5</a:t>
              </a:r>
            </a:p>
            <a:p>
              <a:r>
                <a:rPr lang="en-GB" dirty="0"/>
                <a:t>4	3</a:t>
              </a:r>
            </a:p>
            <a:p>
              <a:r>
                <a:rPr lang="en-GB" dirty="0"/>
                <a:t>7	3</a:t>
              </a:r>
            </a:p>
          </p:txBody>
        </p:sp>
        <p:sp>
          <p:nvSpPr>
            <p:cNvPr id="119" name="Isosceles Triangle 118">
              <a:extLst>
                <a:ext uri="{FF2B5EF4-FFF2-40B4-BE49-F238E27FC236}">
                  <a16:creationId xmlns:a16="http://schemas.microsoft.com/office/drawing/2014/main" id="{F61E1677-5722-4114-B000-22DD5080CC59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8F5640B-C8E0-4F0D-8F88-54C0E6A6B412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EC5B95CF-C5E1-4652-AB99-187C0D597423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2" name="Isosceles Triangle 121">
              <a:extLst>
                <a:ext uri="{FF2B5EF4-FFF2-40B4-BE49-F238E27FC236}">
                  <a16:creationId xmlns:a16="http://schemas.microsoft.com/office/drawing/2014/main" id="{6C9E52BA-4D96-4CA3-8A90-222C69D25D1B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35E440FC-B010-4076-9E98-75AE90B59B99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40F6AACD-D000-44DC-BC2F-283E895037DB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72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1281</Words>
  <Application>Microsoft Office PowerPoint</Application>
  <PresentationFormat>Widescreen</PresentationFormat>
  <Paragraphs>312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Calibri Light</vt:lpstr>
      <vt:lpstr>Cambria Math</vt:lpstr>
      <vt:lpstr>Goudy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35</cp:revision>
  <dcterms:created xsi:type="dcterms:W3CDTF">2026-06-08T08:13:18Z</dcterms:created>
  <dcterms:modified xsi:type="dcterms:W3CDTF">2026-06-08T15:37:14Z</dcterms:modified>
</cp:coreProperties>
</file>